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7"/>
  </p:notesMasterIdLst>
  <p:sldIdLst>
    <p:sldId id="256" r:id="rId2"/>
    <p:sldId id="257" r:id="rId3"/>
    <p:sldId id="269" r:id="rId4"/>
    <p:sldId id="274" r:id="rId5"/>
    <p:sldId id="275" r:id="rId6"/>
    <p:sldId id="272" r:id="rId7"/>
    <p:sldId id="271" r:id="rId8"/>
    <p:sldId id="276" r:id="rId9"/>
    <p:sldId id="268" r:id="rId10"/>
    <p:sldId id="270" r:id="rId11"/>
    <p:sldId id="265" r:id="rId12"/>
    <p:sldId id="278" r:id="rId13"/>
    <p:sldId id="279" r:id="rId14"/>
    <p:sldId id="280" r:id="rId15"/>
    <p:sldId id="26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6" d="100"/>
          <a:sy n="96" d="100"/>
        </p:scale>
        <p:origin x="149"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F546446C-ACB7-F609-E3AF-B9E96F831B38}"/>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956AABBF-557D-DCAC-7CC9-C4A5CE82D05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CD6A9E4A-3FA6-28E3-E70F-B7C4006319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155417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B0BF4C59-5207-9086-FE55-78C4A37F7C38}"/>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093AE93D-21FD-54A2-F98E-BD877804A41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228AE156-B5ED-36B6-A008-994F9B6427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796025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93DBD094-EB6F-F1B9-AAF2-11A54A176867}"/>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8E60CAE0-A695-1255-EE23-32EBCFCE460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4CB1963F-24B0-5A56-F1BE-8CA2555D7D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946473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32003818-EC12-B827-6264-44028C7229D7}"/>
            </a:ext>
          </a:extLst>
        </p:cNvPr>
        <p:cNvGrpSpPr/>
        <p:nvPr/>
      </p:nvGrpSpPr>
      <p:grpSpPr>
        <a:xfrm>
          <a:off x="0" y="0"/>
          <a:ext cx="0" cy="0"/>
          <a:chOff x="0" y="0"/>
          <a:chExt cx="0" cy="0"/>
        </a:xfrm>
      </p:grpSpPr>
      <p:sp>
        <p:nvSpPr>
          <p:cNvPr id="141" name="Google Shape;141;p10:notes">
            <a:extLst>
              <a:ext uri="{FF2B5EF4-FFF2-40B4-BE49-F238E27FC236}">
                <a16:creationId xmlns:a16="http://schemas.microsoft.com/office/drawing/2014/main" id="{999FA727-D86D-8330-F88A-F379610811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a:extLst>
              <a:ext uri="{FF2B5EF4-FFF2-40B4-BE49-F238E27FC236}">
                <a16:creationId xmlns:a16="http://schemas.microsoft.com/office/drawing/2014/main" id="{481C5BB6-BF69-A43D-9AF8-BD0A143967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600171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F99B674B-09C8-0435-0897-FCEC1A443D2F}"/>
            </a:ext>
          </a:extLst>
        </p:cNvPr>
        <p:cNvGrpSpPr/>
        <p:nvPr/>
      </p:nvGrpSpPr>
      <p:grpSpPr>
        <a:xfrm>
          <a:off x="0" y="0"/>
          <a:ext cx="0" cy="0"/>
          <a:chOff x="0" y="0"/>
          <a:chExt cx="0" cy="0"/>
        </a:xfrm>
      </p:grpSpPr>
      <p:sp>
        <p:nvSpPr>
          <p:cNvPr id="141" name="Google Shape;141;p10:notes">
            <a:extLst>
              <a:ext uri="{FF2B5EF4-FFF2-40B4-BE49-F238E27FC236}">
                <a16:creationId xmlns:a16="http://schemas.microsoft.com/office/drawing/2014/main" id="{3DE70617-2A3A-1000-A67E-ABB115C0D21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a:extLst>
              <a:ext uri="{FF2B5EF4-FFF2-40B4-BE49-F238E27FC236}">
                <a16:creationId xmlns:a16="http://schemas.microsoft.com/office/drawing/2014/main" id="{9BD456D8-9960-25B5-AF44-17CD9D1A8E0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86876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88785751-C4FB-338A-CD22-68E8ED25EEAF}"/>
            </a:ext>
          </a:extLst>
        </p:cNvPr>
        <p:cNvGrpSpPr/>
        <p:nvPr/>
      </p:nvGrpSpPr>
      <p:grpSpPr>
        <a:xfrm>
          <a:off x="0" y="0"/>
          <a:ext cx="0" cy="0"/>
          <a:chOff x="0" y="0"/>
          <a:chExt cx="0" cy="0"/>
        </a:xfrm>
      </p:grpSpPr>
      <p:sp>
        <p:nvSpPr>
          <p:cNvPr id="141" name="Google Shape;141;p10:notes">
            <a:extLst>
              <a:ext uri="{FF2B5EF4-FFF2-40B4-BE49-F238E27FC236}">
                <a16:creationId xmlns:a16="http://schemas.microsoft.com/office/drawing/2014/main" id="{7ECE25CA-0755-FD20-B45E-21BE200230E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a:extLst>
              <a:ext uri="{FF2B5EF4-FFF2-40B4-BE49-F238E27FC236}">
                <a16:creationId xmlns:a16="http://schemas.microsoft.com/office/drawing/2014/main" id="{8D63B4CF-DF1C-53A7-6C18-E8A17491DFD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718755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Darshan455111/SwadeshiYatra"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Number:ISE_09</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520384" y="2751015"/>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Dr </a:t>
            </a:r>
            <a:r>
              <a:rPr lang="en-GB" sz="1700" b="1" dirty="0">
                <a:solidFill>
                  <a:srgbClr val="17365D"/>
                </a:solidFill>
                <a:latin typeface="Cambria" panose="02040503050406030204" pitchFamily="18" charset="0"/>
                <a:ea typeface="Cambria" panose="02040503050406030204" pitchFamily="18" charset="0"/>
                <a:cs typeface="Verdana"/>
                <a:sym typeface="Verdana"/>
              </a:rPr>
              <a:t>Chandrasekar V</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4162219650"/>
              </p:ext>
            </p:extLst>
          </p:nvPr>
        </p:nvGraphicFramePr>
        <p:xfrm>
          <a:off x="319177" y="2338949"/>
          <a:ext cx="5776824" cy="2844693"/>
        </p:xfrm>
        <a:graphic>
          <a:graphicData uri="http://schemas.openxmlformats.org/drawingml/2006/table">
            <a:tbl>
              <a:tblPr firstRow="1" bandRow="1">
                <a:noFill/>
                <a:tableStyleId>{57690726-49DA-4552-BDEB-330DD8EA8BD9}</a:tableStyleId>
              </a:tblPr>
              <a:tblGrid>
                <a:gridCol w="1974497">
                  <a:extLst>
                    <a:ext uri="{9D8B030D-6E8A-4147-A177-3AD203B41FA5}">
                      <a16:colId xmlns:a16="http://schemas.microsoft.com/office/drawing/2014/main" val="20000"/>
                    </a:ext>
                  </a:extLst>
                </a:gridCol>
                <a:gridCol w="3802327">
                  <a:extLst>
                    <a:ext uri="{9D8B030D-6E8A-4147-A177-3AD203B41FA5}">
                      <a16:colId xmlns:a16="http://schemas.microsoft.com/office/drawing/2014/main" val="20001"/>
                    </a:ext>
                  </a:extLst>
                </a:gridCol>
              </a:tblGrid>
              <a:tr h="675848">
                <a:tc>
                  <a:txBody>
                    <a:bodyPr/>
                    <a:lstStyle/>
                    <a:p>
                      <a:pPr marL="0" marR="0" lvl="1" indent="0" algn="ctr" rtl="0">
                        <a:spcBef>
                          <a:spcPts val="0"/>
                        </a:spcBef>
                        <a:spcAft>
                          <a:spcPts val="0"/>
                        </a:spcAft>
                        <a:buNone/>
                      </a:pPr>
                      <a:r>
                        <a:rPr lang="en-GB" sz="1800" b="1" u="none" strike="noStrike" cap="none" dirty="0">
                          <a:solidFill>
                            <a:srgbClr val="17365D"/>
                          </a:solidFill>
                        </a:rPr>
                        <a:t>Roll Number</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lang="en-GB" sz="1800" b="1" u="none" strike="noStrike" cap="none" dirty="0">
                        <a:solidFill>
                          <a:srgbClr val="17365D"/>
                        </a:solidFill>
                      </a:endParaRPr>
                    </a:p>
                    <a:p>
                      <a:pPr marL="0" marR="0" lvl="0" indent="0" algn="ctr" rtl="0">
                        <a:spcBef>
                          <a:spcPts val="0"/>
                        </a:spcBef>
                        <a:spcAft>
                          <a:spcPts val="0"/>
                        </a:spcAft>
                        <a:buNone/>
                      </a:pPr>
                      <a:r>
                        <a:rPr lang="en-GB" sz="1800" b="1" u="none" strike="noStrike" cap="none" dirty="0">
                          <a:solidFill>
                            <a:srgbClr val="17365D"/>
                          </a:solidFill>
                        </a:rPr>
                        <a:t>Student Name</a:t>
                      </a:r>
                    </a:p>
                    <a:p>
                      <a:pPr marL="0" marR="0" lvl="0" indent="0" algn="ctr" rtl="0">
                        <a:spcBef>
                          <a:spcPts val="0"/>
                        </a:spcBef>
                        <a:spcAft>
                          <a:spcPts val="0"/>
                        </a:spcAft>
                        <a:buNone/>
                      </a:pPr>
                      <a:endParaRPr lang="en-GB"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467203">
                <a:tc>
                  <a:txBody>
                    <a:bodyPr/>
                    <a:lstStyle/>
                    <a:p>
                      <a:pPr marL="0" marR="0" lvl="0" indent="0" algn="ctr" rtl="0">
                        <a:spcBef>
                          <a:spcPts val="0"/>
                        </a:spcBef>
                        <a:spcAft>
                          <a:spcPts val="0"/>
                        </a:spcAft>
                        <a:buFont typeface="+mj-lt"/>
                        <a:buNone/>
                      </a:pPr>
                      <a:endParaRPr lang="en-IN"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270344">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270344">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270344">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270344">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CSE7302-</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UNIVERSITY </a:t>
            </a:r>
            <a:r>
              <a:rPr lang="en-GB" sz="1800" b="1" dirty="0">
                <a:solidFill>
                  <a:srgbClr val="17365D"/>
                </a:solidFill>
                <a:latin typeface="Cambria" panose="02040503050406030204" pitchFamily="18" charset="0"/>
                <a:ea typeface="Cambria" panose="02040503050406030204" pitchFamily="18" charset="0"/>
                <a:cs typeface="Verdana"/>
                <a:sym typeface="Verdana"/>
              </a:rPr>
              <a:t>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Review-2</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157316" y="4599310"/>
            <a:ext cx="1191966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B. Tech  Information Science Engineering(Robotics)</a:t>
            </a:r>
          </a:p>
          <a:p>
            <a:pPr marL="0" marR="0" lvl="0" indent="0" rtl="0">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dirty="0">
                <a:solidFill>
                  <a:schemeClr val="tx1"/>
                </a:solidFill>
                <a:latin typeface="Cambria" panose="02040503050406030204" pitchFamily="18" charset="0"/>
                <a:ea typeface="Cambria" panose="02040503050406030204" pitchFamily="18" charset="0"/>
                <a:cs typeface="Verdana"/>
                <a:sym typeface="Verdana"/>
              </a:rPr>
              <a:t>Dr. Gopal Krishna Shyam</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Ms. Suma N G</a:t>
            </a:r>
            <a:endParaRPr lang="en-US" sz="1800" b="1" dirty="0">
              <a:solidFill>
                <a:schemeClr val="tx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Dr. Geetha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graphicFrame>
        <p:nvGraphicFramePr>
          <p:cNvPr id="4" name="Table 3">
            <a:extLst>
              <a:ext uri="{FF2B5EF4-FFF2-40B4-BE49-F238E27FC236}">
                <a16:creationId xmlns:a16="http://schemas.microsoft.com/office/drawing/2014/main" id="{2427DB48-8EF9-041D-F2F9-986322860BAC}"/>
              </a:ext>
            </a:extLst>
          </p:cNvPr>
          <p:cNvGraphicFramePr>
            <a:graphicFrameLocks noGrp="1"/>
          </p:cNvGraphicFramePr>
          <p:nvPr>
            <p:extLst>
              <p:ext uri="{D42A27DB-BD31-4B8C-83A1-F6EECF244321}">
                <p14:modId xmlns:p14="http://schemas.microsoft.com/office/powerpoint/2010/main" val="1691526165"/>
              </p:ext>
            </p:extLst>
          </p:nvPr>
        </p:nvGraphicFramePr>
        <p:xfrm>
          <a:off x="414068" y="3114432"/>
          <a:ext cx="5554112" cy="1112520"/>
        </p:xfrm>
        <a:graphic>
          <a:graphicData uri="http://schemas.openxmlformats.org/drawingml/2006/table">
            <a:tbl>
              <a:tblPr firstRow="1" bandRow="1"/>
              <a:tblGrid>
                <a:gridCol w="2766667">
                  <a:extLst>
                    <a:ext uri="{9D8B030D-6E8A-4147-A177-3AD203B41FA5}">
                      <a16:colId xmlns:a16="http://schemas.microsoft.com/office/drawing/2014/main" val="3451246449"/>
                    </a:ext>
                  </a:extLst>
                </a:gridCol>
                <a:gridCol w="2787445">
                  <a:extLst>
                    <a:ext uri="{9D8B030D-6E8A-4147-A177-3AD203B41FA5}">
                      <a16:colId xmlns:a16="http://schemas.microsoft.com/office/drawing/2014/main" val="1867052762"/>
                    </a:ext>
                  </a:extLst>
                </a:gridCol>
              </a:tblGrid>
              <a:tr h="370840">
                <a:tc>
                  <a:txBody>
                    <a:bodyPr/>
                    <a:lstStyle/>
                    <a:p>
                      <a:r>
                        <a:rPr lang="en-IN" dirty="0"/>
                        <a:t>20221ISE0021</a:t>
                      </a:r>
                    </a:p>
                  </a:txBody>
                  <a:tcPr/>
                </a:tc>
                <a:tc>
                  <a:txBody>
                    <a:bodyPr/>
                    <a:lstStyle/>
                    <a:p>
                      <a:r>
                        <a:rPr lang="en-IN" dirty="0"/>
                        <a:t>TANUSHREE.M.S</a:t>
                      </a:r>
                    </a:p>
                  </a:txBody>
                  <a:tcPr/>
                </a:tc>
                <a:extLst>
                  <a:ext uri="{0D108BD9-81ED-4DB2-BD59-A6C34878D82A}">
                    <a16:rowId xmlns:a16="http://schemas.microsoft.com/office/drawing/2014/main" val="780661465"/>
                  </a:ext>
                </a:extLst>
              </a:tr>
              <a:tr h="370840">
                <a:tc>
                  <a:txBody>
                    <a:bodyPr/>
                    <a:lstStyle/>
                    <a:p>
                      <a:r>
                        <a:rPr lang="en-IN" dirty="0"/>
                        <a:t>20221ISE0036</a:t>
                      </a:r>
                    </a:p>
                  </a:txBody>
                  <a:tcPr/>
                </a:tc>
                <a:tc>
                  <a:txBody>
                    <a:bodyPr/>
                    <a:lstStyle/>
                    <a:p>
                      <a:r>
                        <a:rPr lang="en-IN" dirty="0"/>
                        <a:t>DARSHAN.R.H</a:t>
                      </a:r>
                    </a:p>
                  </a:txBody>
                  <a:tcPr/>
                </a:tc>
                <a:extLst>
                  <a:ext uri="{0D108BD9-81ED-4DB2-BD59-A6C34878D82A}">
                    <a16:rowId xmlns:a16="http://schemas.microsoft.com/office/drawing/2014/main" val="671002727"/>
                  </a:ext>
                </a:extLst>
              </a:tr>
              <a:tr h="370840">
                <a:tc>
                  <a:txBody>
                    <a:bodyPr/>
                    <a:lstStyle/>
                    <a:p>
                      <a:r>
                        <a:rPr lang="en-IN" dirty="0"/>
                        <a:t>20221ISE0010</a:t>
                      </a:r>
                    </a:p>
                  </a:txBody>
                  <a:tcPr/>
                </a:tc>
                <a:tc>
                  <a:txBody>
                    <a:bodyPr/>
                    <a:lstStyle/>
                    <a:p>
                      <a:r>
                        <a:rPr lang="en-IN" dirty="0"/>
                        <a:t>MANASA L NAIK</a:t>
                      </a:r>
                    </a:p>
                  </a:txBody>
                  <a:tcPr/>
                </a:tc>
                <a:extLst>
                  <a:ext uri="{0D108BD9-81ED-4DB2-BD59-A6C34878D82A}">
                    <a16:rowId xmlns:a16="http://schemas.microsoft.com/office/drawing/2014/main" val="2379756246"/>
                  </a:ext>
                </a:extLst>
              </a:tr>
            </a:tbl>
          </a:graphicData>
        </a:graphic>
      </p:graphicFrame>
      <p:graphicFrame>
        <p:nvGraphicFramePr>
          <p:cNvPr id="3" name="Table 2">
            <a:extLst>
              <a:ext uri="{FF2B5EF4-FFF2-40B4-BE49-F238E27FC236}">
                <a16:creationId xmlns:a16="http://schemas.microsoft.com/office/drawing/2014/main" id="{723BE89A-023F-C7EF-5F87-BA8CFCE40A9E}"/>
              </a:ext>
            </a:extLst>
          </p:cNvPr>
          <p:cNvGraphicFramePr>
            <a:graphicFrameLocks noGrp="1"/>
          </p:cNvGraphicFramePr>
          <p:nvPr>
            <p:extLst>
              <p:ext uri="{D42A27DB-BD31-4B8C-83A1-F6EECF244321}">
                <p14:modId xmlns:p14="http://schemas.microsoft.com/office/powerpoint/2010/main" val="1671813338"/>
              </p:ext>
            </p:extLst>
          </p:nvPr>
        </p:nvGraphicFramePr>
        <p:xfrm>
          <a:off x="388189" y="1045450"/>
          <a:ext cx="11343736" cy="964505"/>
        </p:xfrm>
        <a:graphic>
          <a:graphicData uri="http://schemas.openxmlformats.org/drawingml/2006/table">
            <a:tbl>
              <a:tblPr/>
              <a:tblGrid>
                <a:gridCol w="11343736">
                  <a:extLst>
                    <a:ext uri="{9D8B030D-6E8A-4147-A177-3AD203B41FA5}">
                      <a16:colId xmlns:a16="http://schemas.microsoft.com/office/drawing/2014/main" val="310755503"/>
                    </a:ext>
                  </a:extLst>
                </a:gridCol>
              </a:tblGrid>
              <a:tr h="964505">
                <a:tc>
                  <a:txBody>
                    <a:bodyPr/>
                    <a:lstStyle/>
                    <a:p>
                      <a:pPr algn="ctr" fontAlgn="ctr">
                        <a:buNone/>
                      </a:pPr>
                      <a:r>
                        <a:rPr lang="en-IN" sz="2800" b="1" i="0" u="none" strike="noStrike" dirty="0">
                          <a:solidFill>
                            <a:srgbClr val="000000"/>
                          </a:solidFill>
                          <a:effectLst/>
                          <a:latin typeface="Aptos" panose="020B0004020202020204" pitchFamily="34" charset="0"/>
                        </a:rPr>
                        <a:t>Student Innovation: Swadeshi for </a:t>
                      </a:r>
                      <a:r>
                        <a:rPr lang="en-IN" sz="2800" b="1" i="0" u="none" strike="noStrike" dirty="0" err="1">
                          <a:solidFill>
                            <a:srgbClr val="000000"/>
                          </a:solidFill>
                          <a:effectLst/>
                          <a:latin typeface="Aptos" panose="020B0004020202020204" pitchFamily="34" charset="0"/>
                        </a:rPr>
                        <a:t>Atmanirbhar</a:t>
                      </a:r>
                      <a:r>
                        <a:rPr lang="en-IN" sz="2800" b="1" i="0" u="none" strike="noStrike" dirty="0">
                          <a:solidFill>
                            <a:srgbClr val="000000"/>
                          </a:solidFill>
                          <a:effectLst/>
                          <a:latin typeface="Aptos" panose="020B0004020202020204" pitchFamily="34" charset="0"/>
                        </a:rPr>
                        <a:t> Bharat - Travel &amp; Tourism</a:t>
                      </a:r>
                    </a:p>
                  </a:txBody>
                  <a:tcPr marL="7620" marR="7620" marT="76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41956628"/>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466850"/>
            <a:ext cx="10668000" cy="3924299"/>
          </a:xfrm>
          <a:prstGeom prst="rect">
            <a:avLst/>
          </a:prstGeom>
          <a:noFill/>
          <a:ln>
            <a:noFill/>
          </a:ln>
        </p:spPr>
        <p:txBody>
          <a:bodyPr spcFirstLastPara="1" wrap="square" lIns="91425" tIns="45700" rIns="91425" bIns="45700" anchor="t" anchorCtr="0">
            <a:normAutofit fontScale="25000" lnSpcReduction="20000"/>
          </a:bodyPr>
          <a:lstStyle/>
          <a:p>
            <a:pPr marL="495300" indent="-342900" algn="just">
              <a:lnSpc>
                <a:spcPct val="200000"/>
              </a:lnSpc>
              <a:spcBef>
                <a:spcPts val="0"/>
              </a:spcBef>
              <a:buFont typeface="Arial" panose="020B0604020202020204" pitchFamily="34" charset="0"/>
              <a:buChar char="•"/>
            </a:pPr>
            <a:r>
              <a:rPr lang="en-US" sz="7200" dirty="0">
                <a:latin typeface="Calibri" panose="020F0502020204030204" pitchFamily="34" charset="0"/>
                <a:ea typeface="Calibri" panose="020F0502020204030204" pitchFamily="34" charset="0"/>
                <a:cs typeface="Calibri" panose="020F0502020204030204" pitchFamily="34" charset="0"/>
              </a:rPr>
              <a:t>Problem Statement</a:t>
            </a:r>
          </a:p>
          <a:p>
            <a:pPr marL="495300" indent="-342900" algn="just">
              <a:lnSpc>
                <a:spcPct val="200000"/>
              </a:lnSpc>
              <a:spcBef>
                <a:spcPts val="0"/>
              </a:spcBef>
              <a:buFont typeface="Arial" panose="020B0604020202020204" pitchFamily="34" charset="0"/>
              <a:buChar char="•"/>
            </a:pPr>
            <a:r>
              <a:rPr lang="en-US" sz="7200" dirty="0">
                <a:latin typeface="Calibri" panose="020F0502020204030204" pitchFamily="34" charset="0"/>
                <a:ea typeface="Calibri" panose="020F0502020204030204" pitchFamily="34" charset="0"/>
                <a:cs typeface="Calibri" panose="020F0502020204030204" pitchFamily="34" charset="0"/>
              </a:rPr>
              <a:t>Objectives</a:t>
            </a:r>
          </a:p>
          <a:p>
            <a:pPr marL="495300" indent="-342900" algn="just">
              <a:lnSpc>
                <a:spcPct val="200000"/>
              </a:lnSpc>
              <a:spcBef>
                <a:spcPts val="0"/>
              </a:spcBef>
              <a:buFont typeface="Arial" panose="020B0604020202020204" pitchFamily="34" charset="0"/>
              <a:buChar char="•"/>
            </a:pPr>
            <a:r>
              <a:rPr lang="en-US" sz="7200" dirty="0">
                <a:latin typeface="Calibri" panose="020F0502020204030204" pitchFamily="34" charset="0"/>
                <a:ea typeface="Calibri" panose="020F0502020204030204" pitchFamily="34" charset="0"/>
                <a:cs typeface="Calibri" panose="020F0502020204030204" pitchFamily="34" charset="0"/>
              </a:rPr>
              <a:t>Background and Related work for title Selection</a:t>
            </a:r>
          </a:p>
          <a:p>
            <a:pPr marL="495300" lvl="0" indent="-342900" algn="just">
              <a:lnSpc>
                <a:spcPct val="200000"/>
              </a:lnSpc>
              <a:spcBef>
                <a:spcPts val="0"/>
              </a:spcBef>
              <a:buFont typeface="Arial" panose="020B0604020202020204" pitchFamily="34" charset="0"/>
              <a:buChar char="•"/>
            </a:pPr>
            <a:r>
              <a:rPr lang="en-US" sz="7200" dirty="0">
                <a:latin typeface="Calibri" panose="020F0502020204030204" pitchFamily="34" charset="0"/>
                <a:ea typeface="Calibri" panose="020F0502020204030204" pitchFamily="34" charset="0"/>
                <a:cs typeface="Calibri" panose="020F0502020204030204" pitchFamily="34" charset="0"/>
              </a:rPr>
              <a:t>Analysis of Problem Statement</a:t>
            </a:r>
          </a:p>
          <a:p>
            <a:pPr marL="495300" lvl="0" indent="-342900" algn="just">
              <a:lnSpc>
                <a:spcPct val="200000"/>
              </a:lnSpc>
              <a:spcBef>
                <a:spcPts val="0"/>
              </a:spcBef>
              <a:buFont typeface="Arial" panose="020B0604020202020204" pitchFamily="34" charset="0"/>
              <a:buChar char="•"/>
            </a:pPr>
            <a:r>
              <a:rPr lang="en-US" sz="7200" dirty="0">
                <a:latin typeface="Calibri" panose="020F0502020204030204" pitchFamily="34" charset="0"/>
                <a:ea typeface="Calibri" panose="020F0502020204030204" pitchFamily="34" charset="0"/>
                <a:cs typeface="Calibri" panose="020F0502020204030204" pitchFamily="34" charset="0"/>
              </a:rPr>
              <a:t>Innovation or Novel Contributions</a:t>
            </a:r>
          </a:p>
          <a:p>
            <a:pPr marL="495300" indent="-342900" algn="just">
              <a:lnSpc>
                <a:spcPct val="200000"/>
              </a:lnSpc>
              <a:spcBef>
                <a:spcPts val="0"/>
              </a:spcBef>
              <a:buFont typeface="Arial" panose="020B0604020202020204" pitchFamily="34" charset="0"/>
              <a:buChar char="•"/>
            </a:pPr>
            <a:r>
              <a:rPr lang="en-US" sz="7200" dirty="0">
                <a:latin typeface="Calibri" panose="020F0502020204030204" pitchFamily="34" charset="0"/>
                <a:ea typeface="Calibri" panose="020F0502020204030204" pitchFamily="34" charset="0"/>
                <a:cs typeface="Calibri" panose="020F0502020204030204" pitchFamily="34" charset="0"/>
              </a:rPr>
              <a:t> GitHub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sz="7200" dirty="0">
                <a:latin typeface="Calibri" panose="020F0502020204030204" pitchFamily="34" charset="0"/>
                <a:ea typeface="Calibri" panose="020F0502020204030204" pitchFamily="34" charset="0"/>
                <a:cs typeface="Calibri" panose="020F0502020204030204" pitchFamily="34"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sz="7200" dirty="0">
                <a:latin typeface="Calibri" panose="020F0502020204030204" pitchFamily="34" charset="0"/>
                <a:ea typeface="Calibri" panose="020F0502020204030204" pitchFamily="34" charset="0"/>
                <a:cs typeface="Calibri" panose="020F0502020204030204" pitchFamily="34"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SIH25137</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25000" lnSpcReduction="20000"/>
          </a:bodyPr>
          <a:lstStyle/>
          <a:p>
            <a:pPr marL="342900" lvl="0" indent="-190500" algn="just">
              <a:spcBef>
                <a:spcPts val="0"/>
              </a:spcBef>
              <a:buNone/>
            </a:pPr>
            <a:r>
              <a:rPr lang="en-US" sz="8000" b="1" dirty="0">
                <a:latin typeface="Calibri" panose="020F0502020204030204" pitchFamily="34" charset="0"/>
                <a:ea typeface="Calibri" panose="020F0502020204030204" pitchFamily="34" charset="0"/>
                <a:cs typeface="Calibri" panose="020F0502020204030204" pitchFamily="34" charset="0"/>
              </a:rPr>
              <a:t>Organization: Presidency University</a:t>
            </a:r>
          </a:p>
          <a:p>
            <a:pPr marL="342900" lvl="0" indent="-190500" algn="just">
              <a:lnSpc>
                <a:spcPct val="200000"/>
              </a:lnSpc>
              <a:spcBef>
                <a:spcPts val="0"/>
              </a:spcBef>
              <a:buNone/>
            </a:pPr>
            <a:r>
              <a:rPr lang="en-US" sz="8000" b="1" dirty="0">
                <a:latin typeface="Calibri" panose="020F0502020204030204" pitchFamily="34" charset="0"/>
                <a:ea typeface="Calibri" panose="020F0502020204030204" pitchFamily="34" charset="0"/>
                <a:cs typeface="Calibri" panose="020F0502020204030204" pitchFamily="34" charset="0"/>
              </a:rPr>
              <a:t>Category: Software</a:t>
            </a:r>
          </a:p>
          <a:p>
            <a:r>
              <a:rPr lang="en-US" sz="8000" b="1" dirty="0">
                <a:latin typeface="Calibri" panose="020F0502020204030204" pitchFamily="34" charset="0"/>
                <a:ea typeface="Calibri" panose="020F0502020204030204" pitchFamily="34" charset="0"/>
                <a:cs typeface="Calibri" panose="020F0502020204030204" pitchFamily="34" charset="0"/>
              </a:rPr>
              <a:t>Problem Description</a:t>
            </a:r>
            <a:r>
              <a:rPr lang="en-US" sz="8000" dirty="0">
                <a:latin typeface="Calibri" panose="020F0502020204030204" pitchFamily="34" charset="0"/>
                <a:ea typeface="Calibri" panose="020F0502020204030204" pitchFamily="34" charset="0"/>
                <a:cs typeface="Calibri" panose="020F0502020204030204" pitchFamily="34" charset="0"/>
              </a:rPr>
              <a:t>: India has a rich cultural heritage, natural diversity, and traditional tourism experiences, yet </a:t>
            </a:r>
            <a:r>
              <a:rPr lang="en-US" sz="8000" dirty="0" err="1">
                <a:latin typeface="Calibri" panose="020F0502020204030204" pitchFamily="34" charset="0"/>
                <a:ea typeface="Calibri" panose="020F0502020204030204" pitchFamily="34" charset="0"/>
                <a:cs typeface="Calibri" panose="020F0502020204030204" pitchFamily="34" charset="0"/>
              </a:rPr>
              <a:t>travellers</a:t>
            </a:r>
            <a:r>
              <a:rPr lang="en-US" sz="8000" dirty="0">
                <a:latin typeface="Calibri" panose="020F0502020204030204" pitchFamily="34" charset="0"/>
                <a:ea typeface="Calibri" panose="020F0502020204030204" pitchFamily="34" charset="0"/>
                <a:cs typeface="Calibri" panose="020F0502020204030204" pitchFamily="34" charset="0"/>
              </a:rPr>
              <a:t> face challenges in planning optimal multi-palace trips. Current platforms don't provide AI-powered sequential route optimization that considers travel timing, accommodation availability, transport convenience, and cultural significance. There's a need for a Swadeshi AI Travel Planner that suggests the most feasible, essential, and convenient sequence for visiting multiple tourist places within India.</a:t>
            </a:r>
          </a:p>
          <a:p>
            <a:pPr marL="76200" indent="0">
              <a:buNone/>
            </a:pPr>
            <a:endParaRPr lang="en-US" sz="8000" dirty="0">
              <a:latin typeface="Calibri" panose="020F0502020204030204" pitchFamily="34" charset="0"/>
              <a:ea typeface="Calibri" panose="020F0502020204030204" pitchFamily="34" charset="0"/>
              <a:cs typeface="Calibri" panose="020F0502020204030204" pitchFamily="34" charset="0"/>
            </a:endParaRPr>
          </a:p>
          <a:p>
            <a:r>
              <a:rPr lang="en-US" sz="8000" b="1" dirty="0">
                <a:latin typeface="Calibri" panose="020F0502020204030204" pitchFamily="34" charset="0"/>
                <a:ea typeface="Calibri" panose="020F0502020204030204" pitchFamily="34" charset="0"/>
                <a:cs typeface="Calibri" panose="020F0502020204030204" pitchFamily="34" charset="0"/>
              </a:rPr>
              <a:t>Expected output</a:t>
            </a:r>
            <a:r>
              <a:rPr lang="en-US" sz="6400" b="1" dirty="0">
                <a:latin typeface="Calibri" panose="020F0502020204030204" pitchFamily="34" charset="0"/>
                <a:ea typeface="Calibri" panose="020F0502020204030204" pitchFamily="34" charset="0"/>
                <a:cs typeface="Calibri" panose="020F0502020204030204" pitchFamily="34" charset="0"/>
              </a:rPr>
              <a:t>:  </a:t>
            </a:r>
            <a:r>
              <a:rPr lang="en-US" sz="7200" dirty="0">
                <a:latin typeface="Calibri" panose="020F0502020204030204" pitchFamily="34" charset="0"/>
                <a:ea typeface="Calibri" panose="020F0502020204030204" pitchFamily="34" charset="0"/>
                <a:cs typeface="Calibri" panose="020F0502020204030204" pitchFamily="34" charset="0"/>
              </a:rPr>
              <a:t>Development of </a:t>
            </a:r>
            <a:r>
              <a:rPr lang="en-US" sz="7200" dirty="0" err="1">
                <a:latin typeface="Calibri" panose="020F0502020204030204" pitchFamily="34" charset="0"/>
                <a:ea typeface="Calibri" panose="020F0502020204030204" pitchFamily="34" charset="0"/>
                <a:cs typeface="Calibri" panose="020F0502020204030204" pitchFamily="34" charset="0"/>
              </a:rPr>
              <a:t>SwadeshiYatra</a:t>
            </a:r>
            <a:r>
              <a:rPr lang="en-US" sz="7200" dirty="0">
                <a:latin typeface="Calibri" panose="020F0502020204030204" pitchFamily="34" charset="0"/>
                <a:ea typeface="Calibri" panose="020F0502020204030204" pitchFamily="34" charset="0"/>
                <a:cs typeface="Calibri" panose="020F0502020204030204" pitchFamily="34" charset="0"/>
              </a:rPr>
              <a:t> – an AI-powered intelligent travel planning platform that:</a:t>
            </a:r>
          </a:p>
          <a:p>
            <a:endParaRPr lang="en-US" sz="6400" dirty="0">
              <a:latin typeface="Calibri" panose="020F0502020204030204" pitchFamily="34" charset="0"/>
              <a:ea typeface="Calibri" panose="020F0502020204030204" pitchFamily="34" charset="0"/>
              <a:cs typeface="Calibri" panose="020F0502020204030204" pitchFamily="34" charset="0"/>
            </a:endParaRPr>
          </a:p>
          <a:p>
            <a:pPr marL="76200" indent="0">
              <a:buNone/>
            </a:pPr>
            <a:r>
              <a:rPr lang="en-US" sz="6400" dirty="0">
                <a:latin typeface="Calibri" panose="020F0502020204030204" pitchFamily="34" charset="0"/>
                <a:ea typeface="Calibri" panose="020F0502020204030204" pitchFamily="34" charset="0"/>
                <a:cs typeface="Calibri" panose="020F0502020204030204" pitchFamily="34" charset="0"/>
              </a:rPr>
              <a:t>      ~</a:t>
            </a:r>
            <a:r>
              <a:rPr lang="en-US" sz="7200" dirty="0">
                <a:latin typeface="Calibri" panose="020F0502020204030204" pitchFamily="34" charset="0"/>
                <a:ea typeface="Calibri" panose="020F0502020204030204" pitchFamily="34" charset="0"/>
                <a:cs typeface="Calibri" panose="020F0502020204030204" pitchFamily="34" charset="0"/>
              </a:rPr>
              <a:t>Allows tourists to select multiple cities and attractions</a:t>
            </a:r>
          </a:p>
          <a:p>
            <a:pPr marL="76200" indent="0">
              <a:buNone/>
            </a:pPr>
            <a:r>
              <a:rPr lang="en-US" sz="7200" dirty="0">
                <a:latin typeface="Calibri" panose="020F0502020204030204" pitchFamily="34" charset="0"/>
                <a:ea typeface="Calibri" panose="020F0502020204030204" pitchFamily="34" charset="0"/>
                <a:cs typeface="Calibri" panose="020F0502020204030204" pitchFamily="34" charset="0"/>
              </a:rPr>
              <a:t>      ~Generates optimized travel sequences</a:t>
            </a:r>
          </a:p>
          <a:p>
            <a:pPr marL="76200" indent="0">
              <a:buNone/>
            </a:pPr>
            <a:r>
              <a:rPr lang="en-US" sz="7200" dirty="0">
                <a:latin typeface="Calibri" panose="020F0502020204030204" pitchFamily="34" charset="0"/>
                <a:ea typeface="Calibri" panose="020F0502020204030204" pitchFamily="34" charset="0"/>
                <a:cs typeface="Calibri" panose="020F0502020204030204" pitchFamily="34" charset="0"/>
              </a:rPr>
              <a:t>      ~Predicts trip duration</a:t>
            </a:r>
          </a:p>
          <a:p>
            <a:pPr marL="76200" indent="0">
              <a:buNone/>
            </a:pPr>
            <a:r>
              <a:rPr lang="en-US" sz="7200" dirty="0">
                <a:latin typeface="Calibri" panose="020F0502020204030204" pitchFamily="34" charset="0"/>
                <a:ea typeface="Calibri" panose="020F0502020204030204" pitchFamily="34" charset="0"/>
                <a:cs typeface="Calibri" panose="020F0502020204030204" pitchFamily="34" charset="0"/>
              </a:rPr>
              <a:t>      ~Recommends hotels, guides, and restaurants</a:t>
            </a:r>
          </a:p>
          <a:p>
            <a:pPr marL="342900" indent="-190500" algn="just">
              <a:lnSpc>
                <a:spcPct val="200000"/>
              </a:lnSpc>
              <a:spcBef>
                <a:spcPts val="0"/>
              </a:spcBef>
              <a:buNone/>
            </a:pPr>
            <a:endParaRPr lang="en-IN" sz="6400"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87E1F215-9B22-23AA-9F36-4BB289D78861}"/>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A31D5B9E-FF93-BDDD-734C-B6B0B30F9229}"/>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Objectives</a:t>
            </a:r>
          </a:p>
        </p:txBody>
      </p:sp>
      <p:sp>
        <p:nvSpPr>
          <p:cNvPr id="115" name="Google Shape;115;p17">
            <a:extLst>
              <a:ext uri="{FF2B5EF4-FFF2-40B4-BE49-F238E27FC236}">
                <a16:creationId xmlns:a16="http://schemas.microsoft.com/office/drawing/2014/main" id="{9A4812CD-E595-2C41-A6A5-6A65D5FBC536}"/>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a:extLst>
              <a:ext uri="{FF2B5EF4-FFF2-40B4-BE49-F238E27FC236}">
                <a16:creationId xmlns:a16="http://schemas.microsoft.com/office/drawing/2014/main" id="{E4158712-FF8D-52DA-D18C-499F199FFF8E}"/>
              </a:ext>
            </a:extLst>
          </p:cNvPr>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a:extLst>
              <a:ext uri="{FF2B5EF4-FFF2-40B4-BE49-F238E27FC236}">
                <a16:creationId xmlns:a16="http://schemas.microsoft.com/office/drawing/2014/main" id="{3363A8BC-EFE3-5238-9F1C-087CCDEC3CAF}"/>
              </a:ext>
            </a:extLst>
          </p:cNvPr>
          <p:cNvSpPr txBox="1">
            <a:spLocks/>
          </p:cNvSpPr>
          <p:nvPr/>
        </p:nvSpPr>
        <p:spPr>
          <a:xfrm>
            <a:off x="534838" y="1150951"/>
            <a:ext cx="11093570" cy="4852358"/>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152400" indent="0" algn="just">
              <a:spcBef>
                <a:spcPts val="0"/>
              </a:spcBef>
              <a:buSzPct val="100000"/>
              <a:buNone/>
            </a:pPr>
            <a:endParaRPr lang="en-US" sz="2000" dirty="0">
              <a:solidFill>
                <a:schemeClr val="tx1">
                  <a:lumMod val="85000"/>
                  <a:lumOff val="15000"/>
                </a:schemeClr>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F28E7E43-08F2-598F-8E88-0537E8D3588A}"/>
              </a:ext>
            </a:extLst>
          </p:cNvPr>
          <p:cNvSpPr>
            <a:spLocks noChangeArrowheads="1"/>
          </p:cNvSpPr>
          <p:nvPr/>
        </p:nvSpPr>
        <p:spPr bwMode="auto">
          <a:xfrm>
            <a:off x="558800" y="1249233"/>
            <a:ext cx="11119449"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dirty="0"/>
              <a:t>• </a:t>
            </a:r>
            <a:r>
              <a:rPr lang="en-US" sz="2400" dirty="0">
                <a:latin typeface="Calibri" panose="020F0502020204030204" pitchFamily="34" charset="0"/>
                <a:ea typeface="Calibri" panose="020F0502020204030204" pitchFamily="34" charset="0"/>
                <a:cs typeface="Calibri" panose="020F0502020204030204" pitchFamily="34" charset="0"/>
              </a:rPr>
              <a:t>Develop an AI-based route optimization model for multi-place travel planning.</a:t>
            </a:r>
          </a:p>
          <a:p>
            <a:r>
              <a:rPr lang="en-US" sz="2400" dirty="0">
                <a:latin typeface="Calibri" panose="020F0502020204030204" pitchFamily="34" charset="0"/>
                <a:ea typeface="Calibri" panose="020F0502020204030204" pitchFamily="34" charset="0"/>
                <a:cs typeface="Calibri" panose="020F0502020204030204" pitchFamily="34" charset="0"/>
              </a:rPr>
              <a:t>• Generate optimal visiting sequences for tourist locations based on:</a:t>
            </a:r>
          </a:p>
          <a:p>
            <a:r>
              <a:rPr lang="en-US" sz="2400" dirty="0">
                <a:latin typeface="Calibri" panose="020F0502020204030204" pitchFamily="34" charset="0"/>
                <a:ea typeface="Calibri" panose="020F0502020204030204" pitchFamily="34" charset="0"/>
                <a:cs typeface="Calibri" panose="020F0502020204030204" pitchFamily="34" charset="0"/>
              </a:rPr>
              <a:t>       Travel time</a:t>
            </a:r>
          </a:p>
          <a:p>
            <a:r>
              <a:rPr lang="en-US" sz="2400" dirty="0">
                <a:latin typeface="Calibri" panose="020F0502020204030204" pitchFamily="34" charset="0"/>
                <a:ea typeface="Calibri" panose="020F0502020204030204" pitchFamily="34" charset="0"/>
                <a:cs typeface="Calibri" panose="020F0502020204030204" pitchFamily="34" charset="0"/>
              </a:rPr>
              <a:t>       attraction timing</a:t>
            </a:r>
          </a:p>
          <a:p>
            <a:r>
              <a:rPr lang="en-US" sz="2400" dirty="0">
                <a:latin typeface="Calibri" panose="020F0502020204030204" pitchFamily="34" charset="0"/>
                <a:ea typeface="Calibri" panose="020F0502020204030204" pitchFamily="34" charset="0"/>
                <a:cs typeface="Calibri" panose="020F0502020204030204" pitchFamily="34" charset="0"/>
              </a:rPr>
              <a:t>       user preferences.</a:t>
            </a:r>
          </a:p>
          <a:p>
            <a:r>
              <a:rPr lang="en-US" sz="2400" dirty="0">
                <a:latin typeface="Calibri" panose="020F0502020204030204" pitchFamily="34" charset="0"/>
                <a:ea typeface="Calibri" panose="020F0502020204030204" pitchFamily="34" charset="0"/>
                <a:cs typeface="Calibri" panose="020F0502020204030204" pitchFamily="34" charset="0"/>
              </a:rPr>
              <a:t>• Provide personalized itinerary generation including accommodation, guides, and restaurants.</a:t>
            </a:r>
          </a:p>
          <a:p>
            <a:r>
              <a:rPr lang="en-US" sz="2400" dirty="0">
                <a:latin typeface="Calibri" panose="020F0502020204030204" pitchFamily="34" charset="0"/>
                <a:ea typeface="Calibri" panose="020F0502020204030204" pitchFamily="34" charset="0"/>
                <a:cs typeface="Calibri" panose="020F0502020204030204" pitchFamily="34" charset="0"/>
              </a:rPr>
              <a:t>• Integrate real-world travel constraints such as peak hours, cultural timings, and transport availability.</a:t>
            </a:r>
          </a:p>
          <a:p>
            <a:endParaRPr lang="en-US" sz="2400" dirty="0"/>
          </a:p>
          <a:p>
            <a:pPr lvl="0" eaLnBrk="0" fontAlgn="base" hangingPunct="0">
              <a:spcBef>
                <a:spcPct val="0"/>
              </a:spcBef>
              <a:spcAft>
                <a:spcPct val="0"/>
              </a:spcAft>
              <a:buClrTx/>
            </a:pP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5301382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8B4F9AA3-38C4-611D-3102-0E2F82D1B79B}"/>
            </a:ext>
          </a:extLst>
        </p:cNvPr>
        <p:cNvGrpSpPr/>
        <p:nvPr/>
      </p:nvGrpSpPr>
      <p:grpSpPr>
        <a:xfrm>
          <a:off x="0" y="0"/>
          <a:ext cx="0" cy="0"/>
          <a:chOff x="0" y="0"/>
          <a:chExt cx="0" cy="0"/>
        </a:xfrm>
      </p:grpSpPr>
      <p:sp>
        <p:nvSpPr>
          <p:cNvPr id="115" name="Google Shape;115;p17">
            <a:extLst>
              <a:ext uri="{FF2B5EF4-FFF2-40B4-BE49-F238E27FC236}">
                <a16:creationId xmlns:a16="http://schemas.microsoft.com/office/drawing/2014/main" id="{04AB48D7-45AE-5F7C-51CF-2D9A5B6383AD}"/>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a:extLst>
              <a:ext uri="{FF2B5EF4-FFF2-40B4-BE49-F238E27FC236}">
                <a16:creationId xmlns:a16="http://schemas.microsoft.com/office/drawing/2014/main" id="{A10F769A-818B-EDCD-88CF-90697D6B1F88}"/>
              </a:ext>
            </a:extLst>
          </p:cNvPr>
          <p:cNvSpPr txBox="1">
            <a:spLocks/>
          </p:cNvSpPr>
          <p:nvPr/>
        </p:nvSpPr>
        <p:spPr>
          <a:xfrm>
            <a:off x="435810" y="11430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None/>
            </a:pPr>
            <a:r>
              <a:rPr lang="en-IN" sz="2800" b="1" dirty="0">
                <a:latin typeface="Calibri" panose="020F0502020204030204" pitchFamily="34" charset="0"/>
                <a:ea typeface="Calibri" panose="020F0502020204030204" pitchFamily="34" charset="0"/>
                <a:cs typeface="Calibri" panose="020F0502020204030204" pitchFamily="34" charset="0"/>
              </a:rPr>
              <a:t>Background: </a:t>
            </a:r>
          </a:p>
          <a:p>
            <a:pPr marL="342900" indent="-190500" algn="just">
              <a:spcBef>
                <a:spcPts val="0"/>
              </a:spcBef>
              <a:buSzPct val="100000"/>
              <a:buNone/>
            </a:pPr>
            <a:r>
              <a:rPr lang="en-IN" sz="1800" dirty="0">
                <a:latin typeface="Calibri" panose="020F0502020204030204" pitchFamily="34" charset="0"/>
                <a:ea typeface="Calibri" panose="020F0502020204030204" pitchFamily="34" charset="0"/>
                <a:cs typeface="Calibri" panose="020F0502020204030204" pitchFamily="34" charset="0"/>
              </a:rPr>
              <a:t>    </a:t>
            </a:r>
            <a:r>
              <a:rPr lang="en-IN" dirty="0">
                <a:latin typeface="Calibri" panose="020F0502020204030204" pitchFamily="34" charset="0"/>
                <a:ea typeface="Calibri" panose="020F0502020204030204" pitchFamily="34" charset="0"/>
                <a:cs typeface="Calibri" panose="020F0502020204030204" pitchFamily="34" charset="0"/>
              </a:rPr>
              <a:t>Indian travellers increasingly plan multi-city trips but lack intelligent tools for optimal sequencing. Foreign platforms focus on bookings but ignore Indian-specific travel patterns - temple timings, festival schedules, monsoon disruptions, tier-2 city connectivity. A Swadeshi AI solution can provide culturally-aware, timing-optimized itineraries.</a:t>
            </a:r>
          </a:p>
          <a:p>
            <a:pPr marL="342900" indent="-190500" algn="just">
              <a:spcBef>
                <a:spcPts val="0"/>
              </a:spcBef>
              <a:buSzPct val="100000"/>
              <a:buNone/>
            </a:pPr>
            <a:r>
              <a:rPr lang="en-IN" sz="2800" b="1" dirty="0">
                <a:latin typeface="Calibri" panose="020F0502020204030204" pitchFamily="34" charset="0"/>
                <a:ea typeface="Calibri" panose="020F0502020204030204" pitchFamily="34" charset="0"/>
                <a:cs typeface="Calibri" panose="020F0502020204030204" pitchFamily="34" charset="0"/>
              </a:rPr>
              <a:t>Related work:</a:t>
            </a:r>
          </a:p>
          <a:p>
            <a:pPr marL="342900" indent="-190500" algn="just">
              <a:spcBef>
                <a:spcPts val="0"/>
              </a:spcBef>
              <a:buSzPct val="100000"/>
              <a:buNone/>
            </a:pPr>
            <a:r>
              <a:rPr lang="en-IN" dirty="0">
                <a:latin typeface="Calibri" panose="020F0502020204030204" pitchFamily="34" charset="0"/>
                <a:ea typeface="Calibri" panose="020F0502020204030204" pitchFamily="34" charset="0"/>
                <a:cs typeface="Calibri" panose="020F0502020204030204" pitchFamily="34" charset="0"/>
              </a:rPr>
              <a:t>   Global platforms (Booking.com, TripAdvisor) offer basic multi-city search but no intelligent sequencing. Indian apps focus on single destinations. Research in AI Travel Route Optimization (Genetic Algorithms, Reinforcement Learning) exists but lacks India-specific implementation. Government portals promote tourism but don't offer personalized multi-place trip planning.</a:t>
            </a:r>
            <a:endParaRPr lang="en-US" sz="18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Title 2">
            <a:extLst>
              <a:ext uri="{FF2B5EF4-FFF2-40B4-BE49-F238E27FC236}">
                <a16:creationId xmlns:a16="http://schemas.microsoft.com/office/drawing/2014/main" id="{151AC202-198B-B26A-139F-9BD4B967605B}"/>
              </a:ext>
            </a:extLst>
          </p:cNvPr>
          <p:cNvSpPr>
            <a:spLocks noGrp="1"/>
          </p:cNvSpPr>
          <p:nvPr>
            <p:ph type="title"/>
          </p:nvPr>
        </p:nvSpPr>
        <p:spPr>
          <a:xfrm>
            <a:off x="631646" y="248758"/>
            <a:ext cx="10668000" cy="487500"/>
          </a:xfrm>
        </p:spPr>
        <p:txBody>
          <a:bodyPr/>
          <a:lstStyle/>
          <a:p>
            <a:r>
              <a:rPr lang="en-IN" dirty="0"/>
              <a:t>Background and Related work for title Selection</a:t>
            </a:r>
          </a:p>
        </p:txBody>
      </p:sp>
    </p:spTree>
    <p:extLst>
      <p:ext uri="{BB962C8B-B14F-4D97-AF65-F5344CB8AC3E}">
        <p14:creationId xmlns:p14="http://schemas.microsoft.com/office/powerpoint/2010/main" val="1069730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9" name="Text Placeholder 8">
            <a:extLst>
              <a:ext uri="{FF2B5EF4-FFF2-40B4-BE49-F238E27FC236}">
                <a16:creationId xmlns:a16="http://schemas.microsoft.com/office/drawing/2014/main" id="{B8BBC73C-5EA7-CCB9-D28F-C932296D3D87}"/>
              </a:ext>
            </a:extLst>
          </p:cNvPr>
          <p:cNvSpPr>
            <a:spLocks noGrp="1"/>
          </p:cNvSpPr>
          <p:nvPr>
            <p:ph type="body" idx="1"/>
          </p:nvPr>
        </p:nvSpPr>
        <p:spPr/>
        <p:txBody>
          <a:bodyPr>
            <a:normAutofit/>
          </a:bodyPr>
          <a:lstStyle/>
          <a:p>
            <a:pPr marL="76200" indent="0">
              <a:buNone/>
            </a:pPr>
            <a:r>
              <a:rPr lang="en-IN" b="1" dirty="0">
                <a:latin typeface="Calibri" panose="020F0502020204030204" pitchFamily="34" charset="0"/>
                <a:ea typeface="Calibri" panose="020F0502020204030204" pitchFamily="34" charset="0"/>
                <a:cs typeface="Calibri" panose="020F0502020204030204" pitchFamily="34" charset="0"/>
              </a:rPr>
              <a:t>Challenges:</a:t>
            </a:r>
            <a:endParaRPr lang="en-IN" dirty="0">
              <a:latin typeface="Calibri" panose="020F0502020204030204" pitchFamily="34" charset="0"/>
              <a:ea typeface="Calibri" panose="020F0502020204030204" pitchFamily="34" charset="0"/>
              <a:cs typeface="Calibri" panose="020F0502020204030204" pitchFamily="34" charset="0"/>
            </a:endParaRPr>
          </a:p>
          <a:p>
            <a:pPr marL="76200" indent="0">
              <a:buNone/>
            </a:pP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Travellers</a:t>
            </a:r>
            <a:r>
              <a:rPr lang="en-US" dirty="0">
                <a:latin typeface="Calibri" panose="020F0502020204030204" pitchFamily="34" charset="0"/>
                <a:ea typeface="Calibri" panose="020F0502020204030204" pitchFamily="34" charset="0"/>
                <a:cs typeface="Calibri" panose="020F0502020204030204" pitchFamily="34" charset="0"/>
              </a:rPr>
              <a:t> select multiple tourist places but do not know the optimal visiting order</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Transport timing conflicts between places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Accommodation booking gaps between cities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Peak tourist hours cause long queues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Unplanned backtracking increases travel time and cost</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Lack of intelligent tools to predict realistic trip duration</a:t>
            </a:r>
          </a:p>
          <a:p>
            <a:pPr marL="76200" indent="0">
              <a:buNone/>
            </a:pPr>
            <a:endParaRPr lang="en-IN" sz="2800" dirty="0">
              <a:latin typeface="Calibri" panose="020F0502020204030204" pitchFamily="34" charset="0"/>
              <a:ea typeface="Calibri" panose="020F0502020204030204" pitchFamily="34" charset="0"/>
              <a:cs typeface="Calibri" panose="020F0502020204030204" pitchFamily="34" charset="0"/>
            </a:endParaRPr>
          </a:p>
          <a:p>
            <a:pPr marL="76200" indent="0">
              <a:buNone/>
            </a:pPr>
            <a:r>
              <a:rPr lang="en-IN" b="1" dirty="0">
                <a:latin typeface="Calibri" panose="020F0502020204030204" pitchFamily="34" charset="0"/>
                <a:ea typeface="Calibri" panose="020F0502020204030204" pitchFamily="34" charset="0"/>
                <a:cs typeface="Calibri" panose="020F0502020204030204" pitchFamily="34" charset="0"/>
              </a:rPr>
              <a:t>Opportunities: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Real-time APIs can provide weather, transport schedules, and event information</a:t>
            </a:r>
            <a:endParaRPr lang="en-IN" sz="32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38832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631645" y="1188174"/>
            <a:ext cx="10928709" cy="4896929"/>
          </a:xfrm>
          <a:prstGeom prst="rect">
            <a:avLst/>
          </a:prstGeom>
          <a:noFill/>
          <a:ln>
            <a:noFill/>
          </a:ln>
        </p:spPr>
        <p:txBody>
          <a:bodyPr spcFirstLastPara="1" wrap="square" lIns="91425" tIns="45700" rIns="91425" bIns="45700" anchor="t" anchorCtr="0">
            <a:normAutofit/>
          </a:bodyPr>
          <a:lstStyle/>
          <a:p>
            <a:pPr marL="342900" lvl="0" indent="-190500" algn="just">
              <a:lnSpc>
                <a:spcPct val="200000"/>
              </a:lnSpc>
              <a:spcBef>
                <a:spcPts val="0"/>
              </a:spcBef>
              <a:buSzPct val="100000"/>
              <a:buNone/>
            </a:pPr>
            <a:r>
              <a:rPr lang="en-US" sz="3200" b="1" dirty="0">
                <a:latin typeface="Calibri" panose="020F0502020204030204" pitchFamily="34" charset="0"/>
                <a:ea typeface="Calibri" panose="020F0502020204030204" pitchFamily="34" charset="0"/>
                <a:cs typeface="Calibri" panose="020F0502020204030204" pitchFamily="34" charset="0"/>
              </a:rPr>
              <a:t>Scope of the Solution:</a:t>
            </a:r>
          </a:p>
          <a:p>
            <a:pPr marL="76200" indent="0">
              <a:buNone/>
            </a:pPr>
            <a:r>
              <a:rPr lang="en-US" sz="2800" dirty="0">
                <a:latin typeface="Calibri" panose="020F0502020204030204" pitchFamily="34" charset="0"/>
                <a:ea typeface="Calibri" panose="020F0502020204030204" pitchFamily="34" charset="0"/>
                <a:cs typeface="Calibri" panose="020F0502020204030204" pitchFamily="34" charset="0"/>
              </a:rPr>
              <a:t>The proposed system develops an AI-powered Swadeshi Travel Planner that:</a:t>
            </a:r>
          </a:p>
          <a:p>
            <a:pPr marL="76200" indent="0">
              <a:buNone/>
            </a:pPr>
            <a:r>
              <a:rPr lang="en-US" sz="2800" dirty="0">
                <a:latin typeface="Calibri" panose="020F0502020204030204" pitchFamily="34" charset="0"/>
                <a:ea typeface="Calibri" panose="020F0502020204030204" pitchFamily="34" charset="0"/>
                <a:cs typeface="Calibri" panose="020F0502020204030204" pitchFamily="34" charset="0"/>
              </a:rPr>
              <a:t>• Allows tourists to select cities and attractions</a:t>
            </a:r>
            <a:br>
              <a:rPr lang="en-US" sz="2800" dirty="0">
                <a:latin typeface="Calibri" panose="020F0502020204030204" pitchFamily="34" charset="0"/>
                <a:ea typeface="Calibri" panose="020F0502020204030204" pitchFamily="34" charset="0"/>
                <a:cs typeface="Calibri" panose="020F0502020204030204" pitchFamily="34" charset="0"/>
              </a:rPr>
            </a:br>
            <a:r>
              <a:rPr lang="en-US" sz="2800" dirty="0">
                <a:latin typeface="Calibri" panose="020F0502020204030204" pitchFamily="34" charset="0"/>
                <a:ea typeface="Calibri" panose="020F0502020204030204" pitchFamily="34" charset="0"/>
                <a:cs typeface="Calibri" panose="020F0502020204030204" pitchFamily="34" charset="0"/>
              </a:rPr>
              <a:t>• Generates optimized multi-city travel routes</a:t>
            </a:r>
            <a:br>
              <a:rPr lang="en-US" sz="2800" dirty="0">
                <a:latin typeface="Calibri" panose="020F0502020204030204" pitchFamily="34" charset="0"/>
                <a:ea typeface="Calibri" panose="020F0502020204030204" pitchFamily="34" charset="0"/>
                <a:cs typeface="Calibri" panose="020F0502020204030204" pitchFamily="34" charset="0"/>
              </a:rPr>
            </a:br>
            <a:r>
              <a:rPr lang="en-US" sz="2800" dirty="0">
                <a:latin typeface="Calibri" panose="020F0502020204030204" pitchFamily="34" charset="0"/>
                <a:ea typeface="Calibri" panose="020F0502020204030204" pitchFamily="34" charset="0"/>
                <a:cs typeface="Calibri" panose="020F0502020204030204" pitchFamily="34" charset="0"/>
              </a:rPr>
              <a:t>• Predicts trip duration and travel feasibility</a:t>
            </a:r>
            <a:br>
              <a:rPr lang="en-US" sz="2800" dirty="0">
                <a:latin typeface="Calibri" panose="020F0502020204030204" pitchFamily="34" charset="0"/>
                <a:ea typeface="Calibri" panose="020F0502020204030204" pitchFamily="34" charset="0"/>
                <a:cs typeface="Calibri" panose="020F0502020204030204" pitchFamily="34" charset="0"/>
              </a:rPr>
            </a:br>
            <a:r>
              <a:rPr lang="en-US" sz="2800" dirty="0">
                <a:latin typeface="Calibri" panose="020F0502020204030204" pitchFamily="34" charset="0"/>
                <a:ea typeface="Calibri" panose="020F0502020204030204" pitchFamily="34" charset="0"/>
                <a:cs typeface="Calibri" panose="020F0502020204030204" pitchFamily="34" charset="0"/>
              </a:rPr>
              <a:t>• Suggests hotels, guides, and restaurants</a:t>
            </a:r>
            <a:br>
              <a:rPr lang="en-US" sz="2800" dirty="0">
                <a:latin typeface="Calibri" panose="020F0502020204030204" pitchFamily="34" charset="0"/>
                <a:ea typeface="Calibri" panose="020F0502020204030204" pitchFamily="34" charset="0"/>
                <a:cs typeface="Calibri" panose="020F0502020204030204" pitchFamily="34" charset="0"/>
              </a:rPr>
            </a:br>
            <a:r>
              <a:rPr lang="en-US" sz="2800" dirty="0">
                <a:latin typeface="Calibri" panose="020F0502020204030204" pitchFamily="34" charset="0"/>
                <a:ea typeface="Calibri" panose="020F0502020204030204" pitchFamily="34" charset="0"/>
                <a:cs typeface="Calibri" panose="020F0502020204030204" pitchFamily="34" charset="0"/>
              </a:rPr>
              <a:t>• Produces a complete day-wise itinerary</a:t>
            </a:r>
          </a:p>
          <a:p>
            <a:pPr marL="342900" lvl="0" indent="-190500" algn="just">
              <a:lnSpc>
                <a:spcPct val="200000"/>
              </a:lnSpc>
              <a:spcBef>
                <a:spcPts val="0"/>
              </a:spcBef>
              <a:buSzPct val="100000"/>
              <a:buNone/>
            </a:pPr>
            <a:endParaRPr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004557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8AB1297B-33FC-16A2-4D95-14AA44548146}"/>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FC4D3E3C-D5B4-C9C3-7E4B-5AA96DDBF7E8}"/>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Innovation or  Novel Contributions</a:t>
            </a:r>
          </a:p>
        </p:txBody>
      </p:sp>
      <p:sp>
        <p:nvSpPr>
          <p:cNvPr id="115" name="Google Shape;115;p17">
            <a:extLst>
              <a:ext uri="{FF2B5EF4-FFF2-40B4-BE49-F238E27FC236}">
                <a16:creationId xmlns:a16="http://schemas.microsoft.com/office/drawing/2014/main" id="{A599E889-8F4B-F918-9AE3-4A62976B005C}"/>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a:extLst>
              <a:ext uri="{FF2B5EF4-FFF2-40B4-BE49-F238E27FC236}">
                <a16:creationId xmlns:a16="http://schemas.microsoft.com/office/drawing/2014/main" id="{6234DBBE-C3B7-C112-C5A3-B325D03103F4}"/>
              </a:ext>
            </a:extLst>
          </p:cNvPr>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a:extLst>
              <a:ext uri="{FF2B5EF4-FFF2-40B4-BE49-F238E27FC236}">
                <a16:creationId xmlns:a16="http://schemas.microsoft.com/office/drawing/2014/main" id="{47F39FB1-EF57-B9E8-4C09-806380E4267C}"/>
              </a:ext>
            </a:extLst>
          </p:cNvPr>
          <p:cNvSpPr txBox="1">
            <a:spLocks/>
          </p:cNvSpPr>
          <p:nvPr/>
        </p:nvSpPr>
        <p:spPr>
          <a:xfrm>
            <a:off x="812800" y="1143000"/>
            <a:ext cx="10668000" cy="5128404"/>
          </a:xfrm>
          <a:prstGeom prst="rect">
            <a:avLst/>
          </a:prstGeom>
          <a:noFill/>
          <a:ln>
            <a:noFill/>
          </a:ln>
        </p:spPr>
        <p:txBody>
          <a:bodyPr spcFirstLastPara="1" wrap="square" lIns="91425" tIns="45700" rIns="91425" bIns="45700" anchor="t" anchorCtr="0">
            <a:normAutofit lnSpcReduction="10000"/>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r>
              <a:rPr lang="en-US" sz="2600" dirty="0">
                <a:latin typeface="Calibri" panose="020F0502020204030204" pitchFamily="34" charset="0"/>
                <a:ea typeface="Calibri" panose="020F0502020204030204" pitchFamily="34" charset="0"/>
                <a:cs typeface="Calibri" panose="020F0502020204030204" pitchFamily="34" charset="0"/>
              </a:rPr>
              <a:t>AI Route Optimization Engine</a:t>
            </a:r>
          </a:p>
          <a:p>
            <a:pPr marL="76200" indent="0">
              <a:buNone/>
            </a:pPr>
            <a:r>
              <a:rPr lang="en-US" sz="2600" dirty="0">
                <a:latin typeface="Calibri" panose="020F0502020204030204" pitchFamily="34" charset="0"/>
                <a:ea typeface="Calibri" panose="020F0502020204030204" pitchFamily="34" charset="0"/>
                <a:cs typeface="Calibri" panose="020F0502020204030204" pitchFamily="34" charset="0"/>
              </a:rPr>
              <a:t>	Uses some optimization techniques to determine the best sequence of visiting places , considering travel time and user preferences.</a:t>
            </a:r>
          </a:p>
          <a:p>
            <a:r>
              <a:rPr lang="en-US" sz="2600" dirty="0">
                <a:latin typeface="Calibri" panose="020F0502020204030204" pitchFamily="34" charset="0"/>
                <a:ea typeface="Calibri" panose="020F0502020204030204" pitchFamily="34" charset="0"/>
                <a:cs typeface="Calibri" panose="020F0502020204030204" pitchFamily="34" charset="0"/>
              </a:rPr>
              <a:t>India-Specific Travel Intelligence</a:t>
            </a:r>
          </a:p>
          <a:p>
            <a:pPr marL="76200" indent="0">
              <a:buNone/>
            </a:pPr>
            <a:r>
              <a:rPr lang="en-US" sz="2600" dirty="0">
                <a:latin typeface="Calibri" panose="020F0502020204030204" pitchFamily="34" charset="0"/>
                <a:ea typeface="Calibri" panose="020F0502020204030204" pitchFamily="34" charset="0"/>
                <a:cs typeface="Calibri" panose="020F0502020204030204" pitchFamily="34" charset="0"/>
              </a:rPr>
              <a:t>	Considers temple timings, festivals, seasonal conditions, and other factors.</a:t>
            </a:r>
          </a:p>
          <a:p>
            <a:r>
              <a:rPr lang="en-US" sz="2600" dirty="0">
                <a:latin typeface="Calibri" panose="020F0502020204030204" pitchFamily="34" charset="0"/>
                <a:ea typeface="Calibri" panose="020F0502020204030204" pitchFamily="34" charset="0"/>
                <a:cs typeface="Calibri" panose="020F0502020204030204" pitchFamily="34" charset="0"/>
              </a:rPr>
              <a:t>Constraint-Based Travel Planning</a:t>
            </a:r>
          </a:p>
          <a:p>
            <a:pPr marL="76200" indent="0">
              <a:buNone/>
            </a:pPr>
            <a:r>
              <a:rPr lang="en-US" sz="2600" dirty="0">
                <a:latin typeface="Calibri" panose="020F0502020204030204" pitchFamily="34" charset="0"/>
                <a:ea typeface="Calibri" panose="020F0502020204030204" pitchFamily="34" charset="0"/>
                <a:cs typeface="Calibri" panose="020F0502020204030204" pitchFamily="34" charset="0"/>
              </a:rPr>
              <a:t>The system generates an itinerary only after collecting constraints such as:</a:t>
            </a:r>
          </a:p>
          <a:p>
            <a:pPr marL="76200" indent="0">
              <a:buNone/>
            </a:pPr>
            <a:r>
              <a:rPr lang="en-US" sz="2600" dirty="0">
                <a:latin typeface="Calibri" panose="020F0502020204030204" pitchFamily="34" charset="0"/>
                <a:ea typeface="Calibri" panose="020F0502020204030204" pitchFamily="34" charset="0"/>
                <a:cs typeface="Calibri" panose="020F0502020204030204" pitchFamily="34" charset="0"/>
              </a:rPr>
              <a:t>	trip duration</a:t>
            </a:r>
          </a:p>
          <a:p>
            <a:pPr marL="76200" indent="0">
              <a:buNone/>
            </a:pPr>
            <a:r>
              <a:rPr lang="en-US" sz="2600" dirty="0">
                <a:latin typeface="Calibri" panose="020F0502020204030204" pitchFamily="34" charset="0"/>
                <a:ea typeface="Calibri" panose="020F0502020204030204" pitchFamily="34" charset="0"/>
                <a:cs typeface="Calibri" panose="020F0502020204030204" pitchFamily="34" charset="0"/>
              </a:rPr>
              <a:t>	budget</a:t>
            </a:r>
          </a:p>
          <a:p>
            <a:pPr marL="76200" indent="0">
              <a:buNone/>
            </a:pPr>
            <a:r>
              <a:rPr lang="en-US" sz="2600" dirty="0">
                <a:latin typeface="Calibri" panose="020F0502020204030204" pitchFamily="34" charset="0"/>
                <a:ea typeface="Calibri" panose="020F0502020204030204" pitchFamily="34" charset="0"/>
                <a:cs typeface="Calibri" panose="020F0502020204030204" pitchFamily="34" charset="0"/>
              </a:rPr>
              <a:t>	transport preference</a:t>
            </a:r>
          </a:p>
          <a:p>
            <a:pPr marL="76200" indent="0">
              <a:buNone/>
            </a:pPr>
            <a:r>
              <a:rPr lang="en-US" sz="2600" dirty="0">
                <a:latin typeface="Calibri" panose="020F0502020204030204" pitchFamily="34" charset="0"/>
                <a:ea typeface="Calibri" panose="020F0502020204030204" pitchFamily="34" charset="0"/>
                <a:cs typeface="Calibri" panose="020F0502020204030204" pitchFamily="34" charset="0"/>
              </a:rPr>
              <a:t>	food preference.</a:t>
            </a: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7384029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20661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b="1" dirty="0" err="1">
                <a:solidFill>
                  <a:schemeClr val="accent2">
                    <a:lumMod val="75000"/>
                  </a:schemeClr>
                </a:solidFill>
                <a:latin typeface="Cambria" panose="02040503050406030204" pitchFamily="18" charset="0"/>
                <a:ea typeface="Cambria" panose="02040503050406030204" pitchFamily="18" charset="0"/>
              </a:rPr>
              <a:t>Github</a:t>
            </a:r>
            <a:r>
              <a:rPr lang="en-US" b="1" dirty="0">
                <a:solidFill>
                  <a:schemeClr val="accent2">
                    <a:lumMod val="75000"/>
                  </a:schemeClr>
                </a:solidFill>
                <a:latin typeface="Cambria" panose="02040503050406030204" pitchFamily="18" charset="0"/>
                <a:ea typeface="Cambria" panose="02040503050406030204" pitchFamily="18" charset="0"/>
              </a:rPr>
              <a:t> Link</a:t>
            </a:r>
          </a:p>
          <a:p>
            <a:pPr marL="342900" indent="-190500" algn="just">
              <a:spcBef>
                <a:spcPts val="0"/>
              </a:spcBef>
              <a:buSzPct val="100000"/>
              <a:buFont typeface="Arial"/>
              <a:buNone/>
            </a:pPr>
            <a:endParaRPr lang="en-US"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None/>
            </a:pPr>
            <a:r>
              <a:rPr lang="en-US" b="1" dirty="0">
                <a:solidFill>
                  <a:schemeClr val="bg2">
                    <a:lumMod val="60000"/>
                    <a:lumOff val="40000"/>
                  </a:schemeClr>
                </a:solidFill>
                <a:latin typeface="Cambria" panose="02040503050406030204" pitchFamily="18" charset="0"/>
                <a:ea typeface="Cambria" panose="02040503050406030204" pitchFamily="18" charset="0"/>
                <a:hlinkClick r:id="rId3"/>
              </a:rPr>
              <a:t>Repository</a:t>
            </a:r>
            <a:r>
              <a:rPr lang="en-US" b="1" dirty="0">
                <a:solidFill>
                  <a:schemeClr val="bg2">
                    <a:lumMod val="60000"/>
                    <a:lumOff val="40000"/>
                  </a:schemeClr>
                </a:solidFill>
                <a:latin typeface="Cambria" panose="02040503050406030204" pitchFamily="18" charset="0"/>
                <a:ea typeface="Cambria" panose="02040503050406030204" pitchFamily="18" charset="0"/>
              </a:rPr>
              <a:t>: https://github.com/Darshan455111/SwadeshiYatra</a:t>
            </a: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pic>
        <p:nvPicPr>
          <p:cNvPr id="10" name="Picture 9">
            <a:extLst>
              <a:ext uri="{FF2B5EF4-FFF2-40B4-BE49-F238E27FC236}">
                <a16:creationId xmlns:a16="http://schemas.microsoft.com/office/drawing/2014/main" id="{C1E774F1-CAF7-465F-4E0C-16E9834F8FBE}"/>
              </a:ext>
            </a:extLst>
          </p:cNvPr>
          <p:cNvPicPr>
            <a:picLocks noChangeAspect="1"/>
          </p:cNvPicPr>
          <p:nvPr/>
        </p:nvPicPr>
        <p:blipFill>
          <a:blip r:embed="rId3"/>
          <a:stretch>
            <a:fillRect/>
          </a:stretch>
        </p:blipFill>
        <p:spPr>
          <a:xfrm>
            <a:off x="446547" y="1047872"/>
            <a:ext cx="10308567" cy="5032171"/>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0" y="1158276"/>
            <a:ext cx="12192000" cy="4953000"/>
          </a:xfrm>
          <a:prstGeom prst="rect">
            <a:avLst/>
          </a:prstGeom>
          <a:noFill/>
          <a:ln>
            <a:noFill/>
          </a:ln>
        </p:spPr>
        <p:txBody>
          <a:bodyPr spcFirstLastPara="1" wrap="square" lIns="91425" tIns="45700" rIns="91425" bIns="45700" anchor="t" anchorCtr="0">
            <a:normAutofit/>
          </a:bodyPr>
          <a:lstStyle/>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p:txBody>
      </p:sp>
      <p:sp>
        <p:nvSpPr>
          <p:cNvPr id="2" name="Rectangle 1">
            <a:extLst>
              <a:ext uri="{FF2B5EF4-FFF2-40B4-BE49-F238E27FC236}">
                <a16:creationId xmlns:a16="http://schemas.microsoft.com/office/drawing/2014/main" id="{7ECA7105-3A8C-DD7D-526E-1F133767E0DE}"/>
              </a:ext>
            </a:extLst>
          </p:cNvPr>
          <p:cNvSpPr>
            <a:spLocks noChangeArrowheads="1"/>
          </p:cNvSpPr>
          <p:nvPr/>
        </p:nvSpPr>
        <p:spPr bwMode="auto">
          <a:xfrm>
            <a:off x="294692" y="1238977"/>
            <a:ext cx="11815536"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1800" dirty="0">
                <a:latin typeface="Calibri" panose="020F0502020204030204" pitchFamily="34" charset="0"/>
                <a:ea typeface="Calibri" panose="020F0502020204030204" pitchFamily="34" charset="0"/>
                <a:cs typeface="Calibri" panose="020F0502020204030204" pitchFamily="34" charset="0"/>
              </a:rPr>
              <a:t>[</a:t>
            </a:r>
            <a:r>
              <a:rPr lang="en-US" sz="1800" dirty="0">
                <a:latin typeface="Calibri" panose="020F0502020204030204" pitchFamily="34" charset="0"/>
                <a:ea typeface="Calibri" panose="020F0502020204030204" pitchFamily="34" charset="0"/>
                <a:cs typeface="Calibri" panose="020F0502020204030204" pitchFamily="34" charset="0"/>
              </a:rPr>
              <a:t>1] S. Cao, Y. Zhang, and X. Li, “An Optimal Round-Trip Route Planning Method for Tourism Based on Genetic Algorithm,” Computational Intelligence and Neuroscience, vol. 2022, pp. 1–13, Aug. 2022. </a:t>
            </a:r>
          </a:p>
          <a:p>
            <a:endParaRPr lang="en-US" sz="1800" dirty="0">
              <a:latin typeface="Calibri" panose="020F0502020204030204" pitchFamily="34" charset="0"/>
              <a:ea typeface="Calibri" panose="020F0502020204030204" pitchFamily="34" charset="0"/>
              <a:cs typeface="Calibri" panose="020F0502020204030204" pitchFamily="34" charset="0"/>
            </a:endParaRPr>
          </a:p>
          <a:p>
            <a:r>
              <a:rPr lang="en-US" sz="1800" dirty="0">
                <a:latin typeface="Calibri" panose="020F0502020204030204" pitchFamily="34" charset="0"/>
                <a:ea typeface="Calibri" panose="020F0502020204030204" pitchFamily="34" charset="0"/>
                <a:cs typeface="Calibri" panose="020F0502020204030204" pitchFamily="34" charset="0"/>
              </a:rPr>
              <a:t>This paper proposes a genetic algorithm–based method for optimizing tourism routes between multiple attractions. The system calculates the shortest and most efficient visiting sequence while estimating travel time and trip duration for tourists.</a:t>
            </a:r>
          </a:p>
          <a:p>
            <a:endParaRPr lang="en-US" sz="1800" dirty="0">
              <a:latin typeface="Calibri" panose="020F0502020204030204" pitchFamily="34" charset="0"/>
              <a:ea typeface="Calibri" panose="020F0502020204030204" pitchFamily="34" charset="0"/>
              <a:cs typeface="Calibri" panose="020F0502020204030204" pitchFamily="34" charset="0"/>
            </a:endParaRPr>
          </a:p>
          <a:p>
            <a:r>
              <a:rPr lang="en-US" sz="1800" dirty="0">
                <a:latin typeface="Calibri" panose="020F0502020204030204" pitchFamily="34" charset="0"/>
                <a:ea typeface="Calibri" panose="020F0502020204030204" pitchFamily="34" charset="0"/>
                <a:cs typeface="Calibri" panose="020F0502020204030204" pitchFamily="34" charset="0"/>
              </a:rPr>
              <a:t>[2] M. </a:t>
            </a:r>
            <a:r>
              <a:rPr lang="en-US" sz="1800" dirty="0" err="1">
                <a:latin typeface="Calibri" panose="020F0502020204030204" pitchFamily="34" charset="0"/>
                <a:ea typeface="Calibri" panose="020F0502020204030204" pitchFamily="34" charset="0"/>
                <a:cs typeface="Calibri" panose="020F0502020204030204" pitchFamily="34" charset="0"/>
              </a:rPr>
              <a:t>Şehab</a:t>
            </a:r>
            <a:r>
              <a:rPr lang="en-US" sz="1800" dirty="0">
                <a:latin typeface="Calibri" panose="020F0502020204030204" pitchFamily="34" charset="0"/>
                <a:ea typeface="Calibri" panose="020F0502020204030204" pitchFamily="34" charset="0"/>
                <a:cs typeface="Calibri" panose="020F0502020204030204" pitchFamily="34" charset="0"/>
              </a:rPr>
              <a:t>, A. Al-Saffar, and M. K. Hasan, “An Enhanced Genetic Algorithm Solution for Tourist Itinerary Recommendation,” </a:t>
            </a:r>
            <a:r>
              <a:rPr lang="en-US" sz="1800" dirty="0" err="1">
                <a:latin typeface="Calibri" panose="020F0502020204030204" pitchFamily="34" charset="0"/>
                <a:ea typeface="Calibri" panose="020F0502020204030204" pitchFamily="34" charset="0"/>
                <a:cs typeface="Calibri" panose="020F0502020204030204" pitchFamily="34" charset="0"/>
              </a:rPr>
              <a:t>PeerJ</a:t>
            </a:r>
            <a:r>
              <a:rPr lang="en-US" sz="1800" dirty="0">
                <a:latin typeface="Calibri" panose="020F0502020204030204" pitchFamily="34" charset="0"/>
                <a:ea typeface="Calibri" panose="020F0502020204030204" pitchFamily="34" charset="0"/>
                <a:cs typeface="Calibri" panose="020F0502020204030204" pitchFamily="34" charset="0"/>
              </a:rPr>
              <a:t> Computer Science, 2024.</a:t>
            </a:r>
          </a:p>
          <a:p>
            <a:endParaRPr lang="en-US" sz="1800" dirty="0">
              <a:latin typeface="Calibri" panose="020F0502020204030204" pitchFamily="34" charset="0"/>
              <a:ea typeface="Calibri" panose="020F0502020204030204" pitchFamily="34" charset="0"/>
              <a:cs typeface="Calibri" panose="020F0502020204030204" pitchFamily="34" charset="0"/>
            </a:endParaRPr>
          </a:p>
          <a:p>
            <a:r>
              <a:rPr lang="en-US" sz="1800" dirty="0">
                <a:latin typeface="Calibri" panose="020F0502020204030204" pitchFamily="34" charset="0"/>
                <a:ea typeface="Calibri" panose="020F0502020204030204" pitchFamily="34" charset="0"/>
                <a:cs typeface="Calibri" panose="020F0502020204030204" pitchFamily="34" charset="0"/>
              </a:rPr>
              <a:t>The paper proposes an improved genetic algorithm to recommend efficient tourist itineraries considering constraints such as travel time and user </a:t>
            </a:r>
            <a:r>
              <a:rPr lang="en-US" sz="1800" dirty="0" err="1">
                <a:latin typeface="Calibri" panose="020F0502020204030204" pitchFamily="34" charset="0"/>
                <a:ea typeface="Calibri" panose="020F0502020204030204" pitchFamily="34" charset="0"/>
                <a:cs typeface="Calibri" panose="020F0502020204030204" pitchFamily="34" charset="0"/>
              </a:rPr>
              <a:t>preferences.The</a:t>
            </a:r>
            <a:r>
              <a:rPr lang="en-US" sz="1800" dirty="0">
                <a:latin typeface="Calibri" panose="020F0502020204030204" pitchFamily="34" charset="0"/>
                <a:ea typeface="Calibri" panose="020F0502020204030204" pitchFamily="34" charset="0"/>
                <a:cs typeface="Calibri" panose="020F0502020204030204" pitchFamily="34" charset="0"/>
              </a:rPr>
              <a:t> algorithm improves route quality and planning efficiency for tourism applications</a:t>
            </a:r>
          </a:p>
          <a:p>
            <a:r>
              <a:rPr lang="en-US" sz="1800" dirty="0">
                <a:latin typeface="Calibri" panose="020F0502020204030204" pitchFamily="34" charset="0"/>
                <a:ea typeface="Calibri" panose="020F0502020204030204" pitchFamily="34" charset="0"/>
                <a:cs typeface="Calibri" panose="020F0502020204030204" pitchFamily="34" charset="0"/>
              </a:rPr>
              <a:t>.</a:t>
            </a:r>
          </a:p>
          <a:p>
            <a:r>
              <a:rPr lang="en-US" sz="1800" dirty="0">
                <a:latin typeface="Calibri" panose="020F0502020204030204" pitchFamily="34" charset="0"/>
                <a:ea typeface="Calibri" panose="020F0502020204030204" pitchFamily="34" charset="0"/>
                <a:cs typeface="Calibri" panose="020F0502020204030204" pitchFamily="34" charset="0"/>
              </a:rPr>
              <a:t>[3] S. Kumar, R. Patel, and A. Sharma, “Tour Itinerary Planner: A Genetic Algorithm and Clustering Approach,” in Proc. ACM Int. Conf. Advanced Computing Applications, 2025. </a:t>
            </a:r>
          </a:p>
          <a:p>
            <a:endParaRPr lang="en-US" sz="1800" dirty="0">
              <a:latin typeface="Calibri" panose="020F0502020204030204" pitchFamily="34" charset="0"/>
              <a:ea typeface="Calibri" panose="020F0502020204030204" pitchFamily="34" charset="0"/>
              <a:cs typeface="Calibri" panose="020F0502020204030204" pitchFamily="34" charset="0"/>
            </a:endParaRPr>
          </a:p>
          <a:p>
            <a:r>
              <a:rPr lang="en-US" sz="1800" dirty="0">
                <a:latin typeface="Calibri" panose="020F0502020204030204" pitchFamily="34" charset="0"/>
                <a:ea typeface="Calibri" panose="020F0502020204030204" pitchFamily="34" charset="0"/>
                <a:cs typeface="Calibri" panose="020F0502020204030204" pitchFamily="34" charset="0"/>
              </a:rPr>
              <a:t>This research proposes a hybrid system combining clustering and genetic algorithms to generate multi-day travel itineraries. Each cluster represents a day’s plan, and the GA determines the optimal sequence of attractions.</a:t>
            </a:r>
          </a:p>
          <a:p>
            <a:r>
              <a:rPr lang="en-US" sz="1800" dirty="0">
                <a:latin typeface="Calibri" panose="020F0502020204030204" pitchFamily="34" charset="0"/>
                <a:ea typeface="Calibri" panose="020F0502020204030204" pitchFamily="34" charset="0"/>
                <a:cs typeface="Calibri" panose="020F0502020204030204" pitchFamily="34" charset="0"/>
              </a:rPr>
              <a:t> </a:t>
            </a:r>
          </a:p>
          <a:p>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0DA3218C-30BE-7A8D-F6ED-AFC84F413EF0}"/>
            </a:ext>
          </a:extLst>
        </p:cNvPr>
        <p:cNvGrpSpPr/>
        <p:nvPr/>
      </p:nvGrpSpPr>
      <p:grpSpPr>
        <a:xfrm>
          <a:off x="0" y="0"/>
          <a:ext cx="0" cy="0"/>
          <a:chOff x="0" y="0"/>
          <a:chExt cx="0" cy="0"/>
        </a:xfrm>
      </p:grpSpPr>
      <p:sp>
        <p:nvSpPr>
          <p:cNvPr id="144" name="Google Shape;144;p22">
            <a:extLst>
              <a:ext uri="{FF2B5EF4-FFF2-40B4-BE49-F238E27FC236}">
                <a16:creationId xmlns:a16="http://schemas.microsoft.com/office/drawing/2014/main" id="{46DC26FC-4FF4-5119-E489-E0F7AF9346DC}"/>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a:extLst>
              <a:ext uri="{FF2B5EF4-FFF2-40B4-BE49-F238E27FC236}">
                <a16:creationId xmlns:a16="http://schemas.microsoft.com/office/drawing/2014/main" id="{5BBA7784-86C5-24CA-74E1-E40140D556F5}"/>
              </a:ext>
            </a:extLst>
          </p:cNvPr>
          <p:cNvSpPr txBox="1">
            <a:spLocks noGrp="1"/>
          </p:cNvSpPr>
          <p:nvPr>
            <p:ph type="body" idx="1"/>
          </p:nvPr>
        </p:nvSpPr>
        <p:spPr>
          <a:xfrm>
            <a:off x="0" y="1158276"/>
            <a:ext cx="12192000" cy="4953000"/>
          </a:xfrm>
          <a:prstGeom prst="rect">
            <a:avLst/>
          </a:prstGeom>
          <a:noFill/>
          <a:ln>
            <a:noFill/>
          </a:ln>
        </p:spPr>
        <p:txBody>
          <a:bodyPr spcFirstLastPara="1" wrap="square" lIns="91425" tIns="45700" rIns="91425" bIns="45700" anchor="t" anchorCtr="0">
            <a:normAutofit/>
          </a:bodyPr>
          <a:lstStyle/>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p:txBody>
      </p:sp>
      <p:sp>
        <p:nvSpPr>
          <p:cNvPr id="2" name="Rectangle 1">
            <a:extLst>
              <a:ext uri="{FF2B5EF4-FFF2-40B4-BE49-F238E27FC236}">
                <a16:creationId xmlns:a16="http://schemas.microsoft.com/office/drawing/2014/main" id="{98A6BBA4-30CE-931E-6408-F763E205343F}"/>
              </a:ext>
            </a:extLst>
          </p:cNvPr>
          <p:cNvSpPr>
            <a:spLocks noChangeArrowheads="1"/>
          </p:cNvSpPr>
          <p:nvPr/>
        </p:nvSpPr>
        <p:spPr bwMode="auto">
          <a:xfrm>
            <a:off x="239032" y="1095619"/>
            <a:ext cx="11815536"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800" dirty="0"/>
              <a:t>[4] X. Jiang and L. Wang, “Application of Genetic Algorithm in Optimizing Path Selection in Tourism Route Planning,” Journal of Engineering Science Research, 2024. </a:t>
            </a:r>
          </a:p>
          <a:p>
            <a:endParaRPr lang="en-US" sz="1800" dirty="0"/>
          </a:p>
          <a:p>
            <a:r>
              <a:rPr lang="en-US" sz="1800" dirty="0"/>
              <a:t>The study analyzes how genetic algorithms can be applied to tourism route optimization problems. It demonstrates improved path efficiency and faster convergence when planning routes among multiple tourist destinations.</a:t>
            </a:r>
          </a:p>
          <a:p>
            <a:endParaRPr lang="en-US" sz="1800" dirty="0"/>
          </a:p>
          <a:p>
            <a:r>
              <a:rPr lang="en-US" sz="1800" dirty="0"/>
              <a:t>[5] A. Wibowo and D. </a:t>
            </a:r>
            <a:r>
              <a:rPr lang="en-US" sz="1800" dirty="0" err="1"/>
              <a:t>Handayani</a:t>
            </a:r>
            <a:r>
              <a:rPr lang="en-US" sz="1800" dirty="0"/>
              <a:t>, “A Genetic Algorithm for Generating Travel Itinerary Recommendation with Restaurant Selection,” International Journal of Intelligent Systems, 2020.</a:t>
            </a:r>
          </a:p>
          <a:p>
            <a:endParaRPr lang="en-US" sz="1800" dirty="0"/>
          </a:p>
          <a:p>
            <a:r>
              <a:rPr lang="en-US" sz="1800" dirty="0"/>
              <a:t>This paper presents a genetic-algorithm-based model that generates complete travel itineraries including restaurants and attractions. The system optimizes route order while considering tourist preferences and time constraints.</a:t>
            </a:r>
          </a:p>
          <a:p>
            <a:endParaRPr lang="en-US" sz="1800" dirty="0"/>
          </a:p>
          <a:p>
            <a:r>
              <a:rPr lang="en-US" sz="1800" dirty="0"/>
              <a:t>[6] B. Li et al., “Research on Travel Route Planning Optimization Based on Large Language Model,” 2024.</a:t>
            </a:r>
          </a:p>
          <a:p>
            <a:endParaRPr lang="en-US" sz="1800" dirty="0"/>
          </a:p>
          <a:p>
            <a:r>
              <a:rPr lang="en-US" sz="1800" dirty="0"/>
              <a:t>This research integrates graph search algorithms and large language models to improve travel route recommendation systems. It incorporates factors such as distance, popularity, and user preferences to generate optimized travel routes.</a:t>
            </a:r>
          </a:p>
        </p:txBody>
      </p:sp>
    </p:spTree>
    <p:extLst>
      <p:ext uri="{BB962C8B-B14F-4D97-AF65-F5344CB8AC3E}">
        <p14:creationId xmlns:p14="http://schemas.microsoft.com/office/powerpoint/2010/main" val="12552023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4AC73D2F-1A95-5F34-9DB4-56234FB6D15E}"/>
            </a:ext>
          </a:extLst>
        </p:cNvPr>
        <p:cNvGrpSpPr/>
        <p:nvPr/>
      </p:nvGrpSpPr>
      <p:grpSpPr>
        <a:xfrm>
          <a:off x="0" y="0"/>
          <a:ext cx="0" cy="0"/>
          <a:chOff x="0" y="0"/>
          <a:chExt cx="0" cy="0"/>
        </a:xfrm>
      </p:grpSpPr>
      <p:sp>
        <p:nvSpPr>
          <p:cNvPr id="144" name="Google Shape;144;p22">
            <a:extLst>
              <a:ext uri="{FF2B5EF4-FFF2-40B4-BE49-F238E27FC236}">
                <a16:creationId xmlns:a16="http://schemas.microsoft.com/office/drawing/2014/main" id="{D3CBADB8-100B-CB0F-B933-EB39C00B24FA}"/>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a:extLst>
              <a:ext uri="{FF2B5EF4-FFF2-40B4-BE49-F238E27FC236}">
                <a16:creationId xmlns:a16="http://schemas.microsoft.com/office/drawing/2014/main" id="{8388F7E1-B413-41F8-6E13-A52AA59D5A9F}"/>
              </a:ext>
            </a:extLst>
          </p:cNvPr>
          <p:cNvSpPr txBox="1">
            <a:spLocks noGrp="1"/>
          </p:cNvSpPr>
          <p:nvPr>
            <p:ph type="body" idx="1"/>
          </p:nvPr>
        </p:nvSpPr>
        <p:spPr>
          <a:xfrm>
            <a:off x="0" y="1158276"/>
            <a:ext cx="12192000" cy="4953000"/>
          </a:xfrm>
          <a:prstGeom prst="rect">
            <a:avLst/>
          </a:prstGeom>
          <a:noFill/>
          <a:ln>
            <a:noFill/>
          </a:ln>
        </p:spPr>
        <p:txBody>
          <a:bodyPr spcFirstLastPara="1" wrap="square" lIns="91425" tIns="45700" rIns="91425" bIns="45700" anchor="t" anchorCtr="0">
            <a:normAutofit/>
          </a:bodyPr>
          <a:lstStyle/>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p:txBody>
      </p:sp>
      <p:sp>
        <p:nvSpPr>
          <p:cNvPr id="2" name="Rectangle 1">
            <a:extLst>
              <a:ext uri="{FF2B5EF4-FFF2-40B4-BE49-F238E27FC236}">
                <a16:creationId xmlns:a16="http://schemas.microsoft.com/office/drawing/2014/main" id="{8F372087-9EFB-6AAA-52C8-8393653FAE5B}"/>
              </a:ext>
            </a:extLst>
          </p:cNvPr>
          <p:cNvSpPr>
            <a:spLocks noChangeArrowheads="1"/>
          </p:cNvSpPr>
          <p:nvPr/>
        </p:nvSpPr>
        <p:spPr bwMode="auto">
          <a:xfrm>
            <a:off x="239032" y="1372617"/>
            <a:ext cx="11815536"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800" dirty="0">
                <a:latin typeface="Calibri" panose="020F0502020204030204" pitchFamily="34" charset="0"/>
                <a:ea typeface="Calibri" panose="020F0502020204030204" pitchFamily="34" charset="0"/>
                <a:cs typeface="Calibri" panose="020F0502020204030204" pitchFamily="34" charset="0"/>
              </a:rPr>
              <a:t>[7] Y. Wang, “Research on Travel Route Planning Problem Based on Greedy Algorithm,” </a:t>
            </a:r>
            <a:r>
              <a:rPr lang="en-US" sz="1800" dirty="0" err="1">
                <a:latin typeface="Calibri" panose="020F0502020204030204" pitchFamily="34" charset="0"/>
                <a:ea typeface="Calibri" panose="020F0502020204030204" pitchFamily="34" charset="0"/>
                <a:cs typeface="Calibri" panose="020F0502020204030204" pitchFamily="34" charset="0"/>
              </a:rPr>
              <a:t>arXiv</a:t>
            </a:r>
            <a:r>
              <a:rPr lang="en-US" sz="1800" dirty="0">
                <a:latin typeface="Calibri" panose="020F0502020204030204" pitchFamily="34" charset="0"/>
                <a:ea typeface="Calibri" panose="020F0502020204030204" pitchFamily="34" charset="0"/>
                <a:cs typeface="Calibri" panose="020F0502020204030204" pitchFamily="34" charset="0"/>
              </a:rPr>
              <a:t> Preprint, 2024.</a:t>
            </a:r>
          </a:p>
          <a:p>
            <a:endParaRPr lang="en-US" sz="1800" dirty="0">
              <a:latin typeface="Calibri" panose="020F0502020204030204" pitchFamily="34" charset="0"/>
              <a:ea typeface="Calibri" panose="020F0502020204030204" pitchFamily="34" charset="0"/>
              <a:cs typeface="Calibri" panose="020F0502020204030204" pitchFamily="34" charset="0"/>
            </a:endParaRPr>
          </a:p>
          <a:p>
            <a:r>
              <a:rPr lang="en-US" sz="1800" dirty="0">
                <a:latin typeface="Calibri" panose="020F0502020204030204" pitchFamily="34" charset="0"/>
                <a:ea typeface="Calibri" panose="020F0502020204030204" pitchFamily="34" charset="0"/>
                <a:cs typeface="Calibri" panose="020F0502020204030204" pitchFamily="34" charset="0"/>
              </a:rPr>
              <a:t>The study proposes a greedy algorithm-based route planning system that considers attraction ratings and city evaluation metrics. It generates personalized travel routes according to tourists’ preferences.</a:t>
            </a:r>
          </a:p>
          <a:p>
            <a:endParaRPr lang="en-US" sz="1800" dirty="0">
              <a:latin typeface="Calibri" panose="020F0502020204030204" pitchFamily="34" charset="0"/>
              <a:ea typeface="Calibri" panose="020F0502020204030204" pitchFamily="34" charset="0"/>
              <a:cs typeface="Calibri" panose="020F0502020204030204" pitchFamily="34" charset="0"/>
            </a:endParaRPr>
          </a:p>
          <a:p>
            <a:r>
              <a:rPr lang="en-US" sz="1800" dirty="0">
                <a:latin typeface="Calibri" panose="020F0502020204030204" pitchFamily="34" charset="0"/>
                <a:ea typeface="Calibri" panose="020F0502020204030204" pitchFamily="34" charset="0"/>
                <a:cs typeface="Calibri" panose="020F0502020204030204" pitchFamily="34" charset="0"/>
              </a:rPr>
              <a:t>[8] D. Liu et al., “Personalized Tour Itinerary Recommendation Algorithm Based on Multi-Objective Optimization,” Applied Sciences, vol. 14, no. 12, 2024.</a:t>
            </a:r>
          </a:p>
          <a:p>
            <a:endParaRPr lang="en-US" sz="1800" dirty="0">
              <a:latin typeface="Calibri" panose="020F0502020204030204" pitchFamily="34" charset="0"/>
              <a:ea typeface="Calibri" panose="020F0502020204030204" pitchFamily="34" charset="0"/>
              <a:cs typeface="Calibri" panose="020F0502020204030204" pitchFamily="34" charset="0"/>
            </a:endParaRPr>
          </a:p>
          <a:p>
            <a:r>
              <a:rPr lang="en-US" sz="1800" dirty="0">
                <a:latin typeface="Calibri" panose="020F0502020204030204" pitchFamily="34" charset="0"/>
                <a:ea typeface="Calibri" panose="020F0502020204030204" pitchFamily="34" charset="0"/>
                <a:cs typeface="Calibri" panose="020F0502020204030204" pitchFamily="34" charset="0"/>
              </a:rPr>
              <a:t>This paper introduces a multi-objective itinerary recommendation algorithm that balances travel cost, time, and tourist satisfaction. It combines AI techniques with optimization algorithms to improve personalized trip planning.</a:t>
            </a:r>
          </a:p>
          <a:p>
            <a:endParaRPr lang="en-US" sz="1800" dirty="0">
              <a:latin typeface="Calibri" panose="020F0502020204030204" pitchFamily="34" charset="0"/>
              <a:ea typeface="Calibri" panose="020F0502020204030204" pitchFamily="34" charset="0"/>
              <a:cs typeface="Calibri" panose="020F0502020204030204" pitchFamily="34" charset="0"/>
            </a:endParaRPr>
          </a:p>
          <a:p>
            <a:r>
              <a:rPr lang="en-US" sz="1800" dirty="0">
                <a:latin typeface="Calibri" panose="020F0502020204030204" pitchFamily="34" charset="0"/>
                <a:ea typeface="Calibri" panose="020F0502020204030204" pitchFamily="34" charset="0"/>
                <a:cs typeface="Calibri" panose="020F0502020204030204" pitchFamily="34" charset="0"/>
              </a:rPr>
              <a:t>[9] C. García-González et al., “A Systematic Literature Review for the Tourist Trip Design Problem,” European Transport Research Review, 2022.</a:t>
            </a:r>
          </a:p>
          <a:p>
            <a:endParaRPr lang="en-US" sz="1800" dirty="0">
              <a:latin typeface="Calibri" panose="020F0502020204030204" pitchFamily="34" charset="0"/>
              <a:ea typeface="Calibri" panose="020F0502020204030204" pitchFamily="34" charset="0"/>
              <a:cs typeface="Calibri" panose="020F0502020204030204" pitchFamily="34" charset="0"/>
            </a:endParaRPr>
          </a:p>
          <a:p>
            <a:r>
              <a:rPr lang="en-US" sz="1800" dirty="0">
                <a:latin typeface="Calibri" panose="020F0502020204030204" pitchFamily="34" charset="0"/>
                <a:ea typeface="Calibri" panose="020F0502020204030204" pitchFamily="34" charset="0"/>
                <a:cs typeface="Calibri" panose="020F0502020204030204" pitchFamily="34" charset="0"/>
              </a:rPr>
              <a:t>This paper reviews various algorithms used in tourist trip planning systems, including genetic algorithms, optimization models, and recommender systems. It provides a taxonomy of approaches used in itinerary planning research.</a:t>
            </a:r>
          </a:p>
        </p:txBody>
      </p:sp>
    </p:spTree>
    <p:extLst>
      <p:ext uri="{BB962C8B-B14F-4D97-AF65-F5344CB8AC3E}">
        <p14:creationId xmlns:p14="http://schemas.microsoft.com/office/powerpoint/2010/main" val="2699491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DEAA2873-7ABA-FE70-0496-5A1140DCE7EC}"/>
            </a:ext>
          </a:extLst>
        </p:cNvPr>
        <p:cNvGrpSpPr/>
        <p:nvPr/>
      </p:nvGrpSpPr>
      <p:grpSpPr>
        <a:xfrm>
          <a:off x="0" y="0"/>
          <a:ext cx="0" cy="0"/>
          <a:chOff x="0" y="0"/>
          <a:chExt cx="0" cy="0"/>
        </a:xfrm>
      </p:grpSpPr>
      <p:sp>
        <p:nvSpPr>
          <p:cNvPr id="144" name="Google Shape;144;p22">
            <a:extLst>
              <a:ext uri="{FF2B5EF4-FFF2-40B4-BE49-F238E27FC236}">
                <a16:creationId xmlns:a16="http://schemas.microsoft.com/office/drawing/2014/main" id="{1EB095BB-6FBC-DA30-8318-B27AF9970858}"/>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a:extLst>
              <a:ext uri="{FF2B5EF4-FFF2-40B4-BE49-F238E27FC236}">
                <a16:creationId xmlns:a16="http://schemas.microsoft.com/office/drawing/2014/main" id="{A3D4D0E3-C1BC-E091-A2BF-43A3D607B408}"/>
              </a:ext>
            </a:extLst>
          </p:cNvPr>
          <p:cNvSpPr txBox="1">
            <a:spLocks noGrp="1"/>
          </p:cNvSpPr>
          <p:nvPr>
            <p:ph type="body" idx="1"/>
          </p:nvPr>
        </p:nvSpPr>
        <p:spPr>
          <a:xfrm>
            <a:off x="0" y="1158276"/>
            <a:ext cx="12192000" cy="4953000"/>
          </a:xfrm>
          <a:prstGeom prst="rect">
            <a:avLst/>
          </a:prstGeom>
          <a:noFill/>
          <a:ln>
            <a:noFill/>
          </a:ln>
        </p:spPr>
        <p:txBody>
          <a:bodyPr spcFirstLastPara="1" wrap="square" lIns="91425" tIns="45700" rIns="91425" bIns="45700" anchor="t" anchorCtr="0">
            <a:normAutofit/>
          </a:bodyPr>
          <a:lstStyle/>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p:txBody>
      </p:sp>
      <p:sp>
        <p:nvSpPr>
          <p:cNvPr id="2" name="Rectangle 1">
            <a:extLst>
              <a:ext uri="{FF2B5EF4-FFF2-40B4-BE49-F238E27FC236}">
                <a16:creationId xmlns:a16="http://schemas.microsoft.com/office/drawing/2014/main" id="{D62DB9A9-AABA-BAFC-3336-02EAE26CC23E}"/>
              </a:ext>
            </a:extLst>
          </p:cNvPr>
          <p:cNvSpPr>
            <a:spLocks noChangeArrowheads="1"/>
          </p:cNvSpPr>
          <p:nvPr/>
        </p:nvSpPr>
        <p:spPr bwMode="auto">
          <a:xfrm>
            <a:off x="188232" y="1452323"/>
            <a:ext cx="11815536"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800" dirty="0">
                <a:latin typeface="Calibri" panose="020F0502020204030204" pitchFamily="34" charset="0"/>
                <a:ea typeface="Calibri" panose="020F0502020204030204" pitchFamily="34" charset="0"/>
                <a:cs typeface="Calibri" panose="020F0502020204030204" pitchFamily="34" charset="0"/>
              </a:rPr>
              <a:t>[10] A. </a:t>
            </a:r>
            <a:r>
              <a:rPr lang="en-US" sz="1800" dirty="0" err="1">
                <a:latin typeface="Calibri" panose="020F0502020204030204" pitchFamily="34" charset="0"/>
                <a:ea typeface="Calibri" panose="020F0502020204030204" pitchFamily="34" charset="0"/>
                <a:cs typeface="Calibri" panose="020F0502020204030204" pitchFamily="34" charset="0"/>
              </a:rPr>
              <a:t>Bolotbekova</a:t>
            </a:r>
            <a:r>
              <a:rPr lang="en-US" sz="1800" dirty="0">
                <a:latin typeface="Calibri" panose="020F0502020204030204" pitchFamily="34" charset="0"/>
                <a:ea typeface="Calibri" panose="020F0502020204030204" pitchFamily="34" charset="0"/>
                <a:cs typeface="Calibri" panose="020F0502020204030204" pitchFamily="34" charset="0"/>
              </a:rPr>
              <a:t> et al., “Trip Route Optimization Based on Bus Transit Using Genetic Algorithm,” Scientific Reports, vol. 15, 2025.</a:t>
            </a:r>
          </a:p>
          <a:p>
            <a:endParaRPr lang="en-US" sz="1800" dirty="0">
              <a:latin typeface="Calibri" panose="020F0502020204030204" pitchFamily="34" charset="0"/>
              <a:ea typeface="Calibri" panose="020F0502020204030204" pitchFamily="34" charset="0"/>
              <a:cs typeface="Calibri" panose="020F0502020204030204" pitchFamily="34" charset="0"/>
            </a:endParaRPr>
          </a:p>
          <a:p>
            <a:r>
              <a:rPr lang="en-US" sz="1800" dirty="0">
                <a:latin typeface="Calibri" panose="020F0502020204030204" pitchFamily="34" charset="0"/>
                <a:ea typeface="Calibri" panose="020F0502020204030204" pitchFamily="34" charset="0"/>
                <a:cs typeface="Calibri" panose="020F0502020204030204" pitchFamily="34" charset="0"/>
              </a:rPr>
              <a:t>This research focuses on optimizing tourist routes using genetic algorithms to minimize travel time and cost. The system improves route efficiency and allows tourists to visit more attractions within limited time</a:t>
            </a:r>
          </a:p>
        </p:txBody>
      </p:sp>
    </p:spTree>
    <p:extLst>
      <p:ext uri="{BB962C8B-B14F-4D97-AF65-F5344CB8AC3E}">
        <p14:creationId xmlns:p14="http://schemas.microsoft.com/office/powerpoint/2010/main" val="18642381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1013</TotalTime>
  <Words>1377</Words>
  <Application>Microsoft Office PowerPoint</Application>
  <PresentationFormat>Widescreen</PresentationFormat>
  <Paragraphs>144</Paragraphs>
  <Slides>15</Slides>
  <Notes>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Aptos</vt:lpstr>
      <vt:lpstr>Arial</vt:lpstr>
      <vt:lpstr>Calibri</vt:lpstr>
      <vt:lpstr>Cambria</vt:lpstr>
      <vt:lpstr>Times New Roman</vt:lpstr>
      <vt:lpstr>Verdana</vt:lpstr>
      <vt:lpstr>Wingdings</vt:lpstr>
      <vt:lpstr>Bioinformatics</vt:lpstr>
      <vt:lpstr>PowerPoint Presentation</vt:lpstr>
      <vt:lpstr>Content</vt:lpstr>
      <vt:lpstr>Problem Statement Number: SIH25137</vt:lpstr>
      <vt:lpstr>Objectives</vt:lpstr>
      <vt:lpstr>Background and Related work for title Selection</vt:lpstr>
      <vt:lpstr>Analysis of Problem Statement (contd...)</vt:lpstr>
      <vt:lpstr>Analysis of Problem Statement (contd...)</vt:lpstr>
      <vt:lpstr>Innovation or  Novel Contributions</vt:lpstr>
      <vt:lpstr>Github Link</vt:lpstr>
      <vt:lpstr>Timeline of the Project (Gantt Chart)</vt:lpstr>
      <vt:lpstr>References (IEEE Paper format)</vt:lpstr>
      <vt:lpstr>References (IEEE Paper format)</vt:lpstr>
      <vt:lpstr>References (IEEE Paper format)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Darshan R H</cp:lastModifiedBy>
  <cp:revision>52</cp:revision>
  <dcterms:modified xsi:type="dcterms:W3CDTF">2026-03-06T10:10:11Z</dcterms:modified>
</cp:coreProperties>
</file>